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cc292504-4da8-3222-1528-594b01b322be}">
          <p14:sldIdLst>
            <p14:sldId id="256"/>
          </p14:sldIdLst>
        </p14:section>
        <p14:section name="Enfoque científico" id="{9a58c5b1-fac4-6443-7951-65d1eaafe35a}">
          <p14:sldIdLst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Hola, somos el equipo de [nombres] del grupo 8191 de Administración. Vamos a recorrer nueve enfoques de la administración, del más antiguo al más reciente: de cada uno, su énfasis, tres autores, qué aportó cada uno y las críticas. Cada enfoque nace para corregir lo que le faltó al anterior. Empezamos con el que dio origen a todo: el enfoque científico.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principios del siglo XX las fábricas crecían, pero el trabajo se hacía a ojo. El enfoque científico pone el énfasis en las tareas. Taylor: cronómetro, tiempos y movimientos, estándar y tarifa más alta a quien lo supera; revolución mental. Gantt: gráfica de barras para planear, bono por tarea cumplida. Los Gilbreth: filmaban, 17 therbligs, menos movimientos y menos fatiga, de ahí la ergonomía.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¿La crítica? Lo llamaron la teoría de la máquina: vio al obrero como una pieza que solo se mueve por dinero, lo sobreespecializó y olvidó su lado humano. Aun así su legado sigue: Ford y la línea de montaje, y la gráfica de Gantt. Ahora le paso la palabra a [integrante 2] con el siguiente enfoque.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233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669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Enfoques de la administración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Del enfoque científico a la calidad: nueve formas de entender cómo se dirige una organización</a:t>
            </a:r>
            <a:endParaRPr lang="en-US" sz="1600" dirty="0"/>
          </a:p>
        </p:txBody>
      </p:sp>
      <p:sp>
        <p:nvSpPr>
          <p:cNvPr id="4" name="materia"/>
          <p:cNvSpPr txBox="1"/>
          <p:nvPr/>
        </p:nvSpPr>
        <p:spPr>
          <a:xfrm>
            <a:off x="548640" y="5029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Administración · Unidad 2 · Actividad complementaria 1</a:t>
            </a:r>
            <a:endParaRPr lang="en-US" sz="1200" dirty="0"/>
          </a:p>
        </p:txBody>
      </p:sp>
      <p:sp>
        <p:nvSpPr>
          <p:cNvPr id="5" name="datos"/>
          <p:cNvSpPr txBox="1"/>
          <p:nvPr/>
        </p:nvSpPr>
        <p:spPr>
          <a:xfrm>
            <a:off x="548640" y="379476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bg2"/>
                </a:solidFill>
              </a:rPr>
              <a:t>Asesora: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Dra. Roxana Alarcón Barrera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Grupo 8191 · Licenciatura en Informática · FCA UNAM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bg2"/>
                </a:solidFill>
              </a:rPr>
              <a:t>Equipo: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Mauro Noel Sánchez Campos · [integrante 2] · [integrante 3] · [integrante 4]</a:t>
            </a:r>
            <a:endParaRPr lang="en-US" sz="1200" dirty="0"/>
          </a:p>
        </p:txBody>
      </p:sp>
      <p:sp>
        <p:nvSpPr>
          <p:cNvPr id="6" name="punto1"/>
          <p:cNvSpPr/>
          <p:nvPr/>
        </p:nvSpPr>
        <p:spPr>
          <a:xfrm>
            <a:off x="6720840" y="438912"/>
            <a:ext cx="329184" cy="329184"/>
          </a:xfrm>
          <a:prstGeom prst="ellipse">
            <a:avLst/>
          </a:prstGeom>
          <a:solidFill>
            <a:srgbClr val="D9822B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20840" y="438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43891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Científico</a:t>
            </a:r>
            <a:endParaRPr lang="en-US" sz="1200" dirty="0"/>
          </a:p>
        </p:txBody>
      </p:sp>
      <p:sp>
        <p:nvSpPr>
          <p:cNvPr id="9" name="punto2"/>
          <p:cNvSpPr/>
          <p:nvPr/>
        </p:nvSpPr>
        <p:spPr>
          <a:xfrm>
            <a:off x="6720840" y="914400"/>
            <a:ext cx="329184" cy="329184"/>
          </a:xfrm>
          <a:prstGeom prst="ellipse">
            <a:avLst/>
          </a:prstGeom>
          <a:solidFill>
            <a:srgbClr val="23303D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20840" y="914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91440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Clásico</a:t>
            </a:r>
            <a:endParaRPr lang="en-US" sz="1200" dirty="0"/>
          </a:p>
        </p:txBody>
      </p:sp>
      <p:sp>
        <p:nvSpPr>
          <p:cNvPr id="12" name="punto3"/>
          <p:cNvSpPr/>
          <p:nvPr/>
        </p:nvSpPr>
        <p:spPr>
          <a:xfrm>
            <a:off x="6720840" y="1389888"/>
            <a:ext cx="329184" cy="329184"/>
          </a:xfrm>
          <a:prstGeom prst="ellipse">
            <a:avLst/>
          </a:prstGeom>
          <a:solidFill>
            <a:srgbClr val="23303D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138988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Humano relacionista</a:t>
            </a:r>
            <a:endParaRPr lang="en-US" sz="1200" dirty="0"/>
          </a:p>
        </p:txBody>
      </p:sp>
      <p:sp>
        <p:nvSpPr>
          <p:cNvPr id="15" name="punto4"/>
          <p:cNvSpPr/>
          <p:nvPr/>
        </p:nvSpPr>
        <p:spPr>
          <a:xfrm>
            <a:off x="6720840" y="1865376"/>
            <a:ext cx="329184" cy="329184"/>
          </a:xfrm>
          <a:prstGeom prst="ellipse">
            <a:avLst/>
          </a:prstGeom>
          <a:solidFill>
            <a:srgbClr val="23303D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186537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Estructuralista</a:t>
            </a:r>
            <a:endParaRPr lang="en-US" sz="1200" dirty="0"/>
          </a:p>
        </p:txBody>
      </p:sp>
      <p:sp>
        <p:nvSpPr>
          <p:cNvPr id="18" name="punto5"/>
          <p:cNvSpPr/>
          <p:nvPr/>
        </p:nvSpPr>
        <p:spPr>
          <a:xfrm>
            <a:off x="6720840" y="2340864"/>
            <a:ext cx="329184" cy="329184"/>
          </a:xfrm>
          <a:prstGeom prst="ellipse">
            <a:avLst/>
          </a:prstGeom>
          <a:solidFill>
            <a:srgbClr val="23303D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20840" y="2340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234086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Neoclásico</a:t>
            </a:r>
            <a:endParaRPr lang="en-US" sz="1200" dirty="0"/>
          </a:p>
        </p:txBody>
      </p:sp>
      <p:sp>
        <p:nvSpPr>
          <p:cNvPr id="21" name="punto6"/>
          <p:cNvSpPr/>
          <p:nvPr/>
        </p:nvSpPr>
        <p:spPr>
          <a:xfrm>
            <a:off x="6720840" y="2816352"/>
            <a:ext cx="329184" cy="329184"/>
          </a:xfrm>
          <a:prstGeom prst="ellipse">
            <a:avLst/>
          </a:prstGeom>
          <a:solidFill>
            <a:srgbClr val="23303D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20840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281635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Neohumanorrelacionista</a:t>
            </a:r>
            <a:endParaRPr lang="en-US" sz="1200" dirty="0"/>
          </a:p>
        </p:txBody>
      </p:sp>
      <p:sp>
        <p:nvSpPr>
          <p:cNvPr id="24" name="punto7"/>
          <p:cNvSpPr/>
          <p:nvPr/>
        </p:nvSpPr>
        <p:spPr>
          <a:xfrm>
            <a:off x="6720840" y="3291840"/>
            <a:ext cx="329184" cy="329184"/>
          </a:xfrm>
          <a:prstGeom prst="ellipse">
            <a:avLst/>
          </a:prstGeom>
          <a:solidFill>
            <a:srgbClr val="23303D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20840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329184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De sistemas</a:t>
            </a:r>
            <a:endParaRPr lang="en-US" sz="1200" dirty="0"/>
          </a:p>
        </p:txBody>
      </p:sp>
      <p:sp>
        <p:nvSpPr>
          <p:cNvPr id="27" name="punto8"/>
          <p:cNvSpPr/>
          <p:nvPr/>
        </p:nvSpPr>
        <p:spPr>
          <a:xfrm>
            <a:off x="6720840" y="3767328"/>
            <a:ext cx="329184" cy="329184"/>
          </a:xfrm>
          <a:prstGeom prst="ellipse">
            <a:avLst/>
          </a:prstGeom>
          <a:solidFill>
            <a:srgbClr val="23303D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20840" y="3767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8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76732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Matemático</a:t>
            </a:r>
            <a:endParaRPr lang="en-US" sz="1200" dirty="0"/>
          </a:p>
        </p:txBody>
      </p:sp>
      <p:sp>
        <p:nvSpPr>
          <p:cNvPr id="30" name="punto9"/>
          <p:cNvSpPr/>
          <p:nvPr/>
        </p:nvSpPr>
        <p:spPr>
          <a:xfrm>
            <a:off x="6720840" y="4242816"/>
            <a:ext cx="329184" cy="329184"/>
          </a:xfrm>
          <a:prstGeom prst="ellipse">
            <a:avLst/>
          </a:prstGeom>
          <a:solidFill>
            <a:srgbClr val="23303D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20840" y="4242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9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24281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De la calidad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 Enfoque científico</a:t>
            </a:r>
            <a:endParaRPr lang="en-US" sz="3200" dirty="0"/>
          </a:p>
        </p:txBody>
      </p:sp>
      <p:sp>
        <p:nvSpPr>
          <p:cNvPr id="3" name="enfasis"/>
          <p:cNvSpPr txBox="1"/>
          <p:nvPr/>
        </p:nvSpPr>
        <p:spPr>
          <a:xfrm>
            <a:off x="45720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Énfasis: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las tareas del obrero · Estados Unidos, 1900-1920 · medir, experimentar y estandarizar para producir más</a:t>
            </a:r>
            <a:endParaRPr lang="en-US" sz="1400" dirty="0"/>
          </a:p>
        </p:txBody>
      </p:sp>
      <p:sp>
        <p:nvSpPr>
          <p:cNvPr id="4" name="tarjeta1"/>
          <p:cNvSpPr/>
          <p:nvPr/>
        </p:nvSpPr>
        <p:spPr>
          <a:xfrm>
            <a:off x="457200" y="155448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5" name="circulo1"/>
          <p:cNvSpPr/>
          <p:nvPr/>
        </p:nvSpPr>
        <p:spPr>
          <a:xfrm>
            <a:off x="685800" y="1755648"/>
            <a:ext cx="685800" cy="6858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6" name="icono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920240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542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Frederick W. Taylor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8254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1856-1915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090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Tiempos y movimientos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Cronometró cada tarea, fijó un estándar y pagó más a quien lo superaba. Pidió una "revolución mental": patrones y obreros cooperando.</a:t>
            </a:r>
            <a:endParaRPr lang="en-US" sz="1200" dirty="0"/>
          </a:p>
        </p:txBody>
      </p:sp>
      <p:sp>
        <p:nvSpPr>
          <p:cNvPr id="11" name="tarjeta2"/>
          <p:cNvSpPr/>
          <p:nvPr/>
        </p:nvSpPr>
        <p:spPr>
          <a:xfrm>
            <a:off x="3291840" y="155448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2" name="circulo2"/>
          <p:cNvSpPr/>
          <p:nvPr/>
        </p:nvSpPr>
        <p:spPr>
          <a:xfrm>
            <a:off x="3520440" y="1755648"/>
            <a:ext cx="685800" cy="6858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3" name="icono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1920240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20440" y="2542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Henry L. Gantt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28254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1861-1919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3520440" y="3090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Gráfica de Gantt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52044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Barras para planear actividades en el tiempo, todavía en uso. Cambió la tarifa de Taylor por un bono por tarea cumplida.</a:t>
            </a:r>
            <a:endParaRPr lang="en-US" sz="1200" dirty="0"/>
          </a:p>
        </p:txBody>
      </p:sp>
      <p:sp>
        <p:nvSpPr>
          <p:cNvPr id="18" name="tarjeta3"/>
          <p:cNvSpPr/>
          <p:nvPr/>
        </p:nvSpPr>
        <p:spPr>
          <a:xfrm>
            <a:off x="6126480" y="155448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9" name="circulo3"/>
          <p:cNvSpPr/>
          <p:nvPr/>
        </p:nvSpPr>
        <p:spPr>
          <a:xfrm>
            <a:off x="6355080" y="1755648"/>
            <a:ext cx="685800" cy="6858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20" name="icono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920240"/>
            <a:ext cx="356616" cy="35661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55080" y="2542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Frank y Lillian Gilbreth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355080" y="28254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1868-1924 · 1878-1972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6355080" y="3090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17 therbligs y fatiga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35508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Filmaban a los trabajadores para quitar movimientos inútiles. Menos movimientos, menos fatiga: base de la ergonomía.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Lo que dejó y lo que se le critica</a:t>
            </a:r>
            <a:endParaRPr lang="en-US" sz="3200" dirty="0"/>
          </a:p>
        </p:txBody>
      </p:sp>
      <p:sp>
        <p:nvSpPr>
          <p:cNvPr id="3" name="circ_legado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pic>
        <p:nvPicPr>
          <p:cNvPr id="4" name="ic_legad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188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Legado</a:t>
            </a:r>
            <a:endParaRPr lang="en-US" sz="2200" dirty="0"/>
          </a:p>
        </p:txBody>
      </p:sp>
      <p:sp>
        <p:nvSpPr>
          <p:cNvPr id="6" name="legado"/>
          <p:cNvSpPr txBox="1"/>
          <p:nvPr/>
        </p:nvSpPr>
        <p:spPr>
          <a:xfrm>
            <a:off x="457200" y="192024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Henry Ford llevó estas ideas a la línea de montaje y la producción en serie.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Estándares, capacitación e incentivos siguen en fábricas, comida rápida y servicios.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gráfica de Gantt es base de la ruta crítica (CPM) y PERT.</a:t>
            </a:r>
            <a:endParaRPr lang="en-US" sz="1500" dirty="0"/>
          </a:p>
        </p:txBody>
      </p:sp>
      <p:sp>
        <p:nvSpPr>
          <p:cNvPr id="7" name="tarjeta_criticas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8E6E3"/>
          </a:solidFill>
          <a:ln w="12700">
            <a:solidFill>
              <a:srgbClr val="F8E6E3"/>
            </a:solidFill>
            <a:prstDash val="solid"/>
          </a:ln>
        </p:spPr>
      </p:sp>
      <p:sp>
        <p:nvSpPr>
          <p:cNvPr id="8" name="circ_crit"/>
          <p:cNvSpPr/>
          <p:nvPr/>
        </p:nvSpPr>
        <p:spPr>
          <a:xfrm>
            <a:off x="4892040" y="1280160"/>
            <a:ext cx="548640" cy="548640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pic>
        <p:nvPicPr>
          <p:cNvPr id="9" name="ic_cri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0817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577840" y="1280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Críticas: "teoría de la máquina"</a:t>
            </a:r>
            <a:endParaRPr lang="en-US" sz="1600" dirty="0"/>
          </a:p>
        </p:txBody>
      </p:sp>
      <p:sp>
        <p:nvSpPr>
          <p:cNvPr id="11" name="criticas"/>
          <p:cNvSpPr txBox="1"/>
          <p:nvPr/>
        </p:nvSpPr>
        <p:spPr>
          <a:xfrm>
            <a:off x="4892040" y="201168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Vio al obrero como una pieza que solo se mueve por dinero.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Sobreespecialización: trabajo monótono y sin satisfacción.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Estudió la fatiga solo como algo muscular.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Vio la empresa como sistema cerrado, sin entorno.</a:t>
            </a:r>
            <a:endParaRPr lang="en-US" sz="1500" dirty="0"/>
          </a:p>
        </p:txBody>
      </p:sp>
      <p:sp>
        <p:nvSpPr>
          <p:cNvPr id="12" name="fuente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Fuente: apunte de Administración, UNAM-FCA (2026), pp. 66-72.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ller">
  <a:themeElements>
    <a:clrScheme name="Taller">
      <a:dk1>
        <a:srgbClr val="1B1F24"/>
      </a:dk1>
      <a:lt1>
        <a:srgbClr val="FFFFFF"/>
      </a:lt1>
      <a:dk2>
        <a:srgbClr val="23303D"/>
      </a:dk2>
      <a:lt2>
        <a:srgbClr val="EEF1F4"/>
      </a:lt2>
      <a:accent1>
        <a:srgbClr val="D9822B"/>
      </a:accent1>
      <a:accent2>
        <a:srgbClr val="3A7CA5"/>
      </a:accent2>
      <a:accent3>
        <a:srgbClr val="B83A2E"/>
      </a:accent3>
      <a:accent4>
        <a:srgbClr val="6B7A89"/>
      </a:accent4>
      <a:accent5>
        <a:srgbClr val="F2C14E"/>
      </a:accent5>
      <a:accent6>
        <a:srgbClr val="2E7D5B"/>
      </a:accent6>
      <a:hlink>
        <a:srgbClr val="3A7CA5"/>
      </a:hlink>
      <a:folHlink>
        <a:srgbClr val="6B7A89"/>
      </a:folHlink>
    </a:clrScheme>
    <a:fontScheme name="Tall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Enfoques de la administración — apertura y enfoque científico</dc:title>
  <dc:subject>PptxGenJS Presentation</dc:subject>
  <dc:creator>PptxGenJS</dc:creator>
  <cp:lastModifiedBy>PptxGenJS</cp:lastModifiedBy>
  <cp:revision>1</cp:revision>
  <dcterms:created xsi:type="dcterms:W3CDTF">2026-10-09T05:03:16Z</dcterms:created>
  <dcterms:modified xsi:type="dcterms:W3CDTF">2026-10-09T05:03:16Z</dcterms:modified>
</cp:coreProperties>
</file>