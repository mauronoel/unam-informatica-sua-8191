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1b6f3b6b-8b77-344f-1899-8dbf9579d784}">
          <p14:sldIdLst>
            <p14:sldId id="256"/>
          </p14:sldIdLst>
        </p14:section>
        <p14:section name="Enfoque neoclásico" id="{6490a858-d059-d3e3-e6f8-2462a6c6adc8}">
          <p14:sldIdLst>
            <p14:sldId id="257"/>
            <p14:sldId id="258"/>
          </p14:sldIdLst>
        </p14:section>
        <p14:section name="Enfoque neohumanorrelacionista" id="{62a23ef2-fe86-9e37-b302-b917fe6c445c}">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Me toca explicar dos enfoques que nacen después de la Segunda Guerra Mundial: el neoclásico, que se enfoca en los resultados, y el neohumanorrelacionista, que se enfoca en la motivación de las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 la guerra las empresas eran enormes y necesitaban algo práctico. El enfoque neoclásico retoma a Fayol, lo actualiza y pone el énfasis en los resultados: fijar objetivos y lograrlos. Su autor principal es Peter Drucker, creador de la administración por objetivos: jefe y empleado acuerdan las metas y luego se evalúa a cada quien por lo que logró. Drucker decía que la ganancia no puede ser el único objetivo. Harold Koontz ordenó el trabajo del directivo en funciones para enseñarlo igual en cualquier empresa. Ernest Dale dijo que dirigir no es una ciencia exacta: se aprende estudiando casos reales y con sentido común.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crítica? Que no es muy original, es Fayol con ropa nueva; que junta ideas de todas las escuelas sin una teoría propia, y que la APO mal usada se convierte en pura presión por cumplir números. Al mismo tiempo, la psicología volvió a entrar a la empresa, pero ahora con más rigor.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enfoque neohumanorrelacionista, o del comportamiento, pone el énfasis en la motivación: por qué cada persona trabaja como trabaja. Abraham Maslow ordenó las necesidades en una pirámide: fisiológicas, seguridad, sociales, estima y autorrealización. Primero cubrimos las de abajo y solo entonces nos mueven las de arriba. Frederick Herzberg encontró dos tipos de factores: los higiénicos, como el sueldo o el jefe, que solo evitan que estemos inconformes, y los motivacionales, como el reconocimiento o un trabajo retador, que son los que realmente motivan. Douglas McGregor comparó dos maneras de ver al empleado: la teoría X, que lo ve flojo y hay que vigilarlo, y la teoría Y, que lo ve responsable si se le da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crítica? La pirámide no se cumple igual en todas las personas y Maslow no dijo en qué nivel queda el dinero; Herzberg no probó que estar satisfecho suba la productividad, y el enfoque se olvida un poco de la estructura. Para ver la organización como un todo, sigue el enfoque de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2330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66928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606040"/>
            <a:ext cx="566928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50392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A8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A8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669280" cy="1371600"/>
          </a:xfrm>
          <a:prstGeom prst="rect">
            <a:avLst/>
          </a:prstGeom>
          <a:noFill/>
          <a:ln/>
        </p:spPr>
        <p:txBody>
          <a:bodyPr wrap="square" lIns="0" tIns="0" rIns="0" bIns="0" rtlCol="0" anchor="t"/>
          <a:lstStyle/>
          <a:p>
            <a:pPr algn="l" indent="0" marL="0">
              <a:buNone/>
            </a:pPr>
            <a:r>
              <a:rPr lang="en-US" sz="3600" b="1" dirty="0">
                <a:solidFill>
                  <a:schemeClr val="bg1"/>
                </a:solidFill>
              </a:rPr>
              <a:t>Neoclásico y neohumanorrelacionista</a:t>
            </a:r>
            <a:endParaRPr lang="en-US" sz="3600" dirty="0"/>
          </a:p>
        </p:txBody>
      </p:sp>
      <p:sp>
        <p:nvSpPr>
          <p:cNvPr id="3" name="Text 0"/>
          <p:cNvSpPr/>
          <p:nvPr>
            <p:ph idx="101" type="body" hasCustomPrompt="1"/>
          </p:nvPr>
        </p:nvSpPr>
        <p:spPr>
          <a:xfrm>
            <a:off x="548640" y="2606040"/>
            <a:ext cx="5669280" cy="822960"/>
          </a:xfrm>
          <a:prstGeom prst="rect">
            <a:avLst/>
          </a:prstGeom>
          <a:noFill/>
          <a:ln/>
        </p:spPr>
        <p:txBody>
          <a:bodyPr wrap="square" lIns="0" tIns="0" rIns="0" bIns="0" rtlCol="0" anchor="t"/>
          <a:lstStyle/>
          <a:p>
            <a:pPr algn="l" indent="0" marL="0">
              <a:buNone/>
            </a:pPr>
            <a:r>
              <a:rPr lang="en-US" sz="1600" dirty="0">
                <a:solidFill>
                  <a:schemeClr val="bg2"/>
                </a:solidFill>
              </a:rPr>
              <a:t>Los resultados y la motivación: la administración después de la Segunda Guerra Mundial</a:t>
            </a:r>
            <a:endParaRPr lang="en-US" sz="1600" dirty="0"/>
          </a:p>
        </p:txBody>
      </p:sp>
      <p:sp>
        <p:nvSpPr>
          <p:cNvPr id="4" name="materia"/>
          <p:cNvSpPr txBox="1"/>
          <p:nvPr/>
        </p:nvSpPr>
        <p:spPr>
          <a:xfrm>
            <a:off x="548640" y="457200"/>
            <a:ext cx="5669280" cy="320040"/>
          </a:xfrm>
          <a:prstGeom prst="rect">
            <a:avLst/>
          </a:prstGeom>
          <a:noFill/>
          <a:ln/>
        </p:spPr>
        <p:txBody>
          <a:bodyPr wrap="square" lIns="0" tIns="0" rIns="0" bIns="0" rtlCol="0" anchor="ctr"/>
          <a:lstStyle/>
          <a:p>
            <a:pPr indent="0" marL="0">
              <a:buNone/>
            </a:pPr>
            <a:r>
              <a:rPr lang="en-US" sz="1200" b="1" dirty="0">
                <a:solidFill>
                  <a:schemeClr val="accent1"/>
                </a:solidFill>
              </a:rPr>
              <a:t>Administración · Unidad 2 · Actividad complementaria 1</a:t>
            </a:r>
            <a:endParaRPr lang="en-US" sz="1200" dirty="0"/>
          </a:p>
        </p:txBody>
      </p:sp>
      <p:sp>
        <p:nvSpPr>
          <p:cNvPr id="5" name="presenta"/>
          <p:cNvSpPr txBox="1"/>
          <p:nvPr/>
        </p:nvSpPr>
        <p:spPr>
          <a:xfrm>
            <a:off x="548640" y="3931920"/>
            <a:ext cx="5852160" cy="365760"/>
          </a:xfrm>
          <a:prstGeom prst="rect">
            <a:avLst/>
          </a:prstGeom>
          <a:noFill/>
          <a:ln/>
        </p:spPr>
        <p:txBody>
          <a:bodyPr wrap="square" lIns="0" tIns="0" rIns="0" bIns="0" rtlCol="0" anchor="ctr"/>
          <a:lstStyle/>
          <a:p>
            <a:pPr indent="0" marL="0">
              <a:buNone/>
            </a:pPr>
            <a:r>
              <a:rPr lang="en-US" sz="1400" b="1" dirty="0">
                <a:solidFill>
                  <a:schemeClr val="bg2"/>
                </a:solidFill>
              </a:rPr>
              <a:t>Presenta: </a:t>
            </a:r>
            <a:pPr indent="0" marL="0">
              <a:buNone/>
            </a:pPr>
            <a:r>
              <a:rPr lang="en-US" sz="1400" dirty="0">
                <a:solidFill>
                  <a:schemeClr val="bg2"/>
                </a:solidFill>
              </a:rPr>
              <a:t>Geovani Leobardo Hernández Valverde</a:t>
            </a:r>
            <a:endParaRPr lang="en-US" sz="1400" dirty="0"/>
          </a:p>
        </p:txBody>
      </p:sp>
      <p:sp>
        <p:nvSpPr>
          <p:cNvPr id="6" name="punto1"/>
          <p:cNvSpPr/>
          <p:nvPr/>
        </p:nvSpPr>
        <p:spPr>
          <a:xfrm>
            <a:off x="6720840" y="438912"/>
            <a:ext cx="329184" cy="329184"/>
          </a:xfrm>
          <a:prstGeom prst="ellipse">
            <a:avLst/>
          </a:prstGeom>
          <a:solidFill>
            <a:srgbClr val="23303D"/>
          </a:solidFill>
          <a:ln w="19050">
            <a:solidFill>
              <a:srgbClr val="D9822B"/>
            </a:solidFill>
            <a:prstDash val="solid"/>
          </a:ln>
        </p:spPr>
      </p:sp>
      <p:sp>
        <p:nvSpPr>
          <p:cNvPr id="7" name="Text 5"/>
          <p:cNvSpPr txBox="1"/>
          <p:nvPr/>
        </p:nvSpPr>
        <p:spPr>
          <a:xfrm>
            <a:off x="6720840" y="43891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6"/>
          <p:cNvSpPr txBox="1"/>
          <p:nvPr/>
        </p:nvSpPr>
        <p:spPr>
          <a:xfrm>
            <a:off x="7178040" y="438912"/>
            <a:ext cx="1783080" cy="329184"/>
          </a:xfrm>
          <a:prstGeom prst="rect">
            <a:avLst/>
          </a:prstGeom>
          <a:noFill/>
          <a:ln/>
        </p:spPr>
        <p:txBody>
          <a:bodyPr wrap="square" lIns="0" tIns="0" rIns="0" bIns="0" rtlCol="0" anchor="ctr"/>
          <a:lstStyle/>
          <a:p>
            <a:pPr indent="0" marL="0">
              <a:buNone/>
            </a:pPr>
            <a:r>
              <a:rPr lang="en-US" sz="1200" dirty="0">
                <a:solidFill>
                  <a:schemeClr val="bg2"/>
                </a:solidFill>
              </a:rPr>
              <a:t>Científico</a:t>
            </a:r>
            <a:endParaRPr lang="en-US" sz="1200" dirty="0"/>
          </a:p>
        </p:txBody>
      </p:sp>
      <p:sp>
        <p:nvSpPr>
          <p:cNvPr id="9" name="punto2"/>
          <p:cNvSpPr/>
          <p:nvPr/>
        </p:nvSpPr>
        <p:spPr>
          <a:xfrm>
            <a:off x="6720840" y="914400"/>
            <a:ext cx="329184" cy="329184"/>
          </a:xfrm>
          <a:prstGeom prst="ellipse">
            <a:avLst/>
          </a:prstGeom>
          <a:solidFill>
            <a:srgbClr val="23303D"/>
          </a:solidFill>
          <a:ln w="19050">
            <a:solidFill>
              <a:srgbClr val="D9822B"/>
            </a:solidFill>
            <a:prstDash val="solid"/>
          </a:ln>
        </p:spPr>
      </p:sp>
      <p:sp>
        <p:nvSpPr>
          <p:cNvPr id="10" name="Text 8"/>
          <p:cNvSpPr txBox="1"/>
          <p:nvPr/>
        </p:nvSpPr>
        <p:spPr>
          <a:xfrm>
            <a:off x="6720840" y="91440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9"/>
          <p:cNvSpPr txBox="1"/>
          <p:nvPr/>
        </p:nvSpPr>
        <p:spPr>
          <a:xfrm>
            <a:off x="7178040" y="914400"/>
            <a:ext cx="1783080" cy="329184"/>
          </a:xfrm>
          <a:prstGeom prst="rect">
            <a:avLst/>
          </a:prstGeom>
          <a:noFill/>
          <a:ln/>
        </p:spPr>
        <p:txBody>
          <a:bodyPr wrap="square" lIns="0" tIns="0" rIns="0" bIns="0" rtlCol="0" anchor="ctr"/>
          <a:lstStyle/>
          <a:p>
            <a:pPr indent="0" marL="0">
              <a:buNone/>
            </a:pPr>
            <a:r>
              <a:rPr lang="en-US" sz="1200" dirty="0">
                <a:solidFill>
                  <a:schemeClr val="bg2"/>
                </a:solidFill>
              </a:rPr>
              <a:t>Clásico</a:t>
            </a:r>
            <a:endParaRPr lang="en-US" sz="1200" dirty="0"/>
          </a:p>
        </p:txBody>
      </p:sp>
      <p:sp>
        <p:nvSpPr>
          <p:cNvPr id="12" name="punto3"/>
          <p:cNvSpPr/>
          <p:nvPr/>
        </p:nvSpPr>
        <p:spPr>
          <a:xfrm>
            <a:off x="6720840" y="1389888"/>
            <a:ext cx="329184" cy="329184"/>
          </a:xfrm>
          <a:prstGeom prst="ellipse">
            <a:avLst/>
          </a:prstGeom>
          <a:solidFill>
            <a:srgbClr val="23303D"/>
          </a:solidFill>
          <a:ln w="19050">
            <a:solidFill>
              <a:srgbClr val="D9822B"/>
            </a:solidFill>
            <a:prstDash val="solid"/>
          </a:ln>
        </p:spPr>
      </p:sp>
      <p:sp>
        <p:nvSpPr>
          <p:cNvPr id="13" name="Text 11"/>
          <p:cNvSpPr txBox="1"/>
          <p:nvPr/>
        </p:nvSpPr>
        <p:spPr>
          <a:xfrm>
            <a:off x="6720840" y="138988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Text 12"/>
          <p:cNvSpPr txBox="1"/>
          <p:nvPr/>
        </p:nvSpPr>
        <p:spPr>
          <a:xfrm>
            <a:off x="7178040" y="1389888"/>
            <a:ext cx="1783080" cy="329184"/>
          </a:xfrm>
          <a:prstGeom prst="rect">
            <a:avLst/>
          </a:prstGeom>
          <a:noFill/>
          <a:ln/>
        </p:spPr>
        <p:txBody>
          <a:bodyPr wrap="square" lIns="0" tIns="0" rIns="0" bIns="0" rtlCol="0" anchor="ctr"/>
          <a:lstStyle/>
          <a:p>
            <a:pPr indent="0" marL="0">
              <a:buNone/>
            </a:pPr>
            <a:r>
              <a:rPr lang="en-US" sz="1200" dirty="0">
                <a:solidFill>
                  <a:schemeClr val="bg2"/>
                </a:solidFill>
              </a:rPr>
              <a:t>Humano relacionista</a:t>
            </a:r>
            <a:endParaRPr lang="en-US" sz="1200" dirty="0"/>
          </a:p>
        </p:txBody>
      </p:sp>
      <p:sp>
        <p:nvSpPr>
          <p:cNvPr id="15" name="punto4"/>
          <p:cNvSpPr/>
          <p:nvPr/>
        </p:nvSpPr>
        <p:spPr>
          <a:xfrm>
            <a:off x="6720840" y="1865376"/>
            <a:ext cx="329184" cy="329184"/>
          </a:xfrm>
          <a:prstGeom prst="ellipse">
            <a:avLst/>
          </a:prstGeom>
          <a:solidFill>
            <a:srgbClr val="23303D"/>
          </a:solidFill>
          <a:ln w="19050">
            <a:solidFill>
              <a:srgbClr val="D9822B"/>
            </a:solidFill>
            <a:prstDash val="solid"/>
          </a:ln>
        </p:spPr>
      </p:sp>
      <p:sp>
        <p:nvSpPr>
          <p:cNvPr id="16" name="Text 14"/>
          <p:cNvSpPr txBox="1"/>
          <p:nvPr/>
        </p:nvSpPr>
        <p:spPr>
          <a:xfrm>
            <a:off x="6720840" y="1865376"/>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Text 15"/>
          <p:cNvSpPr txBox="1"/>
          <p:nvPr/>
        </p:nvSpPr>
        <p:spPr>
          <a:xfrm>
            <a:off x="7178040" y="1865376"/>
            <a:ext cx="1783080" cy="329184"/>
          </a:xfrm>
          <a:prstGeom prst="rect">
            <a:avLst/>
          </a:prstGeom>
          <a:noFill/>
          <a:ln/>
        </p:spPr>
        <p:txBody>
          <a:bodyPr wrap="square" lIns="0" tIns="0" rIns="0" bIns="0" rtlCol="0" anchor="ctr"/>
          <a:lstStyle/>
          <a:p>
            <a:pPr indent="0" marL="0">
              <a:buNone/>
            </a:pPr>
            <a:r>
              <a:rPr lang="en-US" sz="1200" dirty="0">
                <a:solidFill>
                  <a:schemeClr val="bg2"/>
                </a:solidFill>
              </a:rPr>
              <a:t>Estructuralista</a:t>
            </a:r>
            <a:endParaRPr lang="en-US" sz="1200" dirty="0"/>
          </a:p>
        </p:txBody>
      </p:sp>
      <p:sp>
        <p:nvSpPr>
          <p:cNvPr id="18" name="punto5"/>
          <p:cNvSpPr/>
          <p:nvPr/>
        </p:nvSpPr>
        <p:spPr>
          <a:xfrm>
            <a:off x="6720840" y="2340864"/>
            <a:ext cx="329184" cy="329184"/>
          </a:xfrm>
          <a:prstGeom prst="ellipse">
            <a:avLst/>
          </a:prstGeom>
          <a:solidFill>
            <a:srgbClr val="D9822B"/>
          </a:solidFill>
          <a:ln w="19050">
            <a:solidFill>
              <a:srgbClr val="D9822B"/>
            </a:solidFill>
            <a:prstDash val="solid"/>
          </a:ln>
        </p:spPr>
      </p:sp>
      <p:sp>
        <p:nvSpPr>
          <p:cNvPr id="19" name="Text 17"/>
          <p:cNvSpPr txBox="1"/>
          <p:nvPr/>
        </p:nvSpPr>
        <p:spPr>
          <a:xfrm>
            <a:off x="6720840" y="234086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0" name="Text 18"/>
          <p:cNvSpPr txBox="1"/>
          <p:nvPr/>
        </p:nvSpPr>
        <p:spPr>
          <a:xfrm>
            <a:off x="7178040" y="2340864"/>
            <a:ext cx="1783080" cy="329184"/>
          </a:xfrm>
          <a:prstGeom prst="rect">
            <a:avLst/>
          </a:prstGeom>
          <a:noFill/>
          <a:ln/>
        </p:spPr>
        <p:txBody>
          <a:bodyPr wrap="square" lIns="0" tIns="0" rIns="0" bIns="0" rtlCol="0" anchor="ctr"/>
          <a:lstStyle/>
          <a:p>
            <a:pPr indent="0" marL="0">
              <a:buNone/>
            </a:pPr>
            <a:r>
              <a:rPr lang="en-US" sz="1200" b="1" dirty="0">
                <a:solidFill>
                  <a:schemeClr val="accent1"/>
                </a:solidFill>
              </a:rPr>
              <a:t>Neoclásico</a:t>
            </a:r>
            <a:endParaRPr lang="en-US" sz="1200" dirty="0"/>
          </a:p>
        </p:txBody>
      </p:sp>
      <p:sp>
        <p:nvSpPr>
          <p:cNvPr id="21" name="punto6"/>
          <p:cNvSpPr/>
          <p:nvPr/>
        </p:nvSpPr>
        <p:spPr>
          <a:xfrm>
            <a:off x="6720840" y="2816352"/>
            <a:ext cx="329184" cy="329184"/>
          </a:xfrm>
          <a:prstGeom prst="ellipse">
            <a:avLst/>
          </a:prstGeom>
          <a:solidFill>
            <a:srgbClr val="D9822B"/>
          </a:solidFill>
          <a:ln w="19050">
            <a:solidFill>
              <a:srgbClr val="D9822B"/>
            </a:solidFill>
            <a:prstDash val="solid"/>
          </a:ln>
        </p:spPr>
      </p:sp>
      <p:sp>
        <p:nvSpPr>
          <p:cNvPr id="22" name="Text 20"/>
          <p:cNvSpPr txBox="1"/>
          <p:nvPr/>
        </p:nvSpPr>
        <p:spPr>
          <a:xfrm>
            <a:off x="6720840" y="281635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3" name="Text 21"/>
          <p:cNvSpPr txBox="1"/>
          <p:nvPr/>
        </p:nvSpPr>
        <p:spPr>
          <a:xfrm>
            <a:off x="7178040" y="2816352"/>
            <a:ext cx="1783080" cy="329184"/>
          </a:xfrm>
          <a:prstGeom prst="rect">
            <a:avLst/>
          </a:prstGeom>
          <a:noFill/>
          <a:ln/>
        </p:spPr>
        <p:txBody>
          <a:bodyPr wrap="square" lIns="0" tIns="0" rIns="0" bIns="0" rtlCol="0" anchor="ctr"/>
          <a:lstStyle/>
          <a:p>
            <a:pPr indent="0" marL="0">
              <a:buNone/>
            </a:pPr>
            <a:r>
              <a:rPr lang="en-US" sz="1200" b="1" dirty="0">
                <a:solidFill>
                  <a:schemeClr val="accent1"/>
                </a:solidFill>
              </a:rPr>
              <a:t>Neohumanorrelacionista</a:t>
            </a:r>
            <a:endParaRPr lang="en-US" sz="1200" dirty="0"/>
          </a:p>
        </p:txBody>
      </p:sp>
      <p:sp>
        <p:nvSpPr>
          <p:cNvPr id="24" name="punto7"/>
          <p:cNvSpPr/>
          <p:nvPr/>
        </p:nvSpPr>
        <p:spPr>
          <a:xfrm>
            <a:off x="6720840" y="3291840"/>
            <a:ext cx="329184" cy="329184"/>
          </a:xfrm>
          <a:prstGeom prst="ellipse">
            <a:avLst/>
          </a:prstGeom>
          <a:solidFill>
            <a:srgbClr val="23303D"/>
          </a:solidFill>
          <a:ln w="19050">
            <a:solidFill>
              <a:srgbClr val="D9822B"/>
            </a:solidFill>
            <a:prstDash val="solid"/>
          </a:ln>
        </p:spPr>
      </p:sp>
      <p:sp>
        <p:nvSpPr>
          <p:cNvPr id="25" name="Text 23"/>
          <p:cNvSpPr txBox="1"/>
          <p:nvPr/>
        </p:nvSpPr>
        <p:spPr>
          <a:xfrm>
            <a:off x="6720840" y="329184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26" name="Text 24"/>
          <p:cNvSpPr txBox="1"/>
          <p:nvPr/>
        </p:nvSpPr>
        <p:spPr>
          <a:xfrm>
            <a:off x="7178040" y="3291840"/>
            <a:ext cx="1783080" cy="329184"/>
          </a:xfrm>
          <a:prstGeom prst="rect">
            <a:avLst/>
          </a:prstGeom>
          <a:noFill/>
          <a:ln/>
        </p:spPr>
        <p:txBody>
          <a:bodyPr wrap="square" lIns="0" tIns="0" rIns="0" bIns="0" rtlCol="0" anchor="ctr"/>
          <a:lstStyle/>
          <a:p>
            <a:pPr indent="0" marL="0">
              <a:buNone/>
            </a:pPr>
            <a:r>
              <a:rPr lang="en-US" sz="1200" dirty="0">
                <a:solidFill>
                  <a:schemeClr val="bg2"/>
                </a:solidFill>
              </a:rPr>
              <a:t>De sistemas</a:t>
            </a:r>
            <a:endParaRPr lang="en-US" sz="1200" dirty="0"/>
          </a:p>
        </p:txBody>
      </p:sp>
      <p:sp>
        <p:nvSpPr>
          <p:cNvPr id="27" name="punto8"/>
          <p:cNvSpPr/>
          <p:nvPr/>
        </p:nvSpPr>
        <p:spPr>
          <a:xfrm>
            <a:off x="6720840" y="3767328"/>
            <a:ext cx="329184" cy="329184"/>
          </a:xfrm>
          <a:prstGeom prst="ellipse">
            <a:avLst/>
          </a:prstGeom>
          <a:solidFill>
            <a:srgbClr val="23303D"/>
          </a:solidFill>
          <a:ln w="19050">
            <a:solidFill>
              <a:srgbClr val="D9822B"/>
            </a:solidFill>
            <a:prstDash val="solid"/>
          </a:ln>
        </p:spPr>
      </p:sp>
      <p:sp>
        <p:nvSpPr>
          <p:cNvPr id="28" name="Text 26"/>
          <p:cNvSpPr txBox="1"/>
          <p:nvPr/>
        </p:nvSpPr>
        <p:spPr>
          <a:xfrm>
            <a:off x="6720840" y="376732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29" name="Text 27"/>
          <p:cNvSpPr txBox="1"/>
          <p:nvPr/>
        </p:nvSpPr>
        <p:spPr>
          <a:xfrm>
            <a:off x="7178040" y="3767328"/>
            <a:ext cx="1783080" cy="329184"/>
          </a:xfrm>
          <a:prstGeom prst="rect">
            <a:avLst/>
          </a:prstGeom>
          <a:noFill/>
          <a:ln/>
        </p:spPr>
        <p:txBody>
          <a:bodyPr wrap="square" lIns="0" tIns="0" rIns="0" bIns="0" rtlCol="0" anchor="ctr"/>
          <a:lstStyle/>
          <a:p>
            <a:pPr indent="0" marL="0">
              <a:buNone/>
            </a:pPr>
            <a:r>
              <a:rPr lang="en-US" sz="1200" dirty="0">
                <a:solidFill>
                  <a:schemeClr val="bg2"/>
                </a:solidFill>
              </a:rPr>
              <a:t>Matemático</a:t>
            </a:r>
            <a:endParaRPr lang="en-US" sz="1200" dirty="0"/>
          </a:p>
        </p:txBody>
      </p:sp>
      <p:sp>
        <p:nvSpPr>
          <p:cNvPr id="30" name="punto9"/>
          <p:cNvSpPr/>
          <p:nvPr/>
        </p:nvSpPr>
        <p:spPr>
          <a:xfrm>
            <a:off x="6720840" y="4242816"/>
            <a:ext cx="329184" cy="329184"/>
          </a:xfrm>
          <a:prstGeom prst="ellipse">
            <a:avLst/>
          </a:prstGeom>
          <a:solidFill>
            <a:srgbClr val="23303D"/>
          </a:solidFill>
          <a:ln w="19050">
            <a:solidFill>
              <a:srgbClr val="D9822B"/>
            </a:solidFill>
            <a:prstDash val="solid"/>
          </a:ln>
        </p:spPr>
      </p:sp>
      <p:sp>
        <p:nvSpPr>
          <p:cNvPr id="31" name="Text 29"/>
          <p:cNvSpPr txBox="1"/>
          <p:nvPr/>
        </p:nvSpPr>
        <p:spPr>
          <a:xfrm>
            <a:off x="6720840" y="4242816"/>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9</a:t>
            </a:r>
            <a:endParaRPr lang="en-US" sz="1100" dirty="0"/>
          </a:p>
        </p:txBody>
      </p:sp>
      <p:sp>
        <p:nvSpPr>
          <p:cNvPr id="32" name="Text 30"/>
          <p:cNvSpPr txBox="1"/>
          <p:nvPr/>
        </p:nvSpPr>
        <p:spPr>
          <a:xfrm>
            <a:off x="7178040" y="4242816"/>
            <a:ext cx="1783080" cy="329184"/>
          </a:xfrm>
          <a:prstGeom prst="rect">
            <a:avLst/>
          </a:prstGeom>
          <a:noFill/>
          <a:ln/>
        </p:spPr>
        <p:txBody>
          <a:bodyPr wrap="square" lIns="0" tIns="0" rIns="0" bIns="0" rtlCol="0" anchor="ctr"/>
          <a:lstStyle/>
          <a:p>
            <a:pPr indent="0" marL="0">
              <a:buNone/>
            </a:pPr>
            <a:r>
              <a:rPr lang="en-US" sz="1200" dirty="0">
                <a:solidFill>
                  <a:schemeClr val="bg2"/>
                </a:solidFill>
              </a:rPr>
              <a:t>De la calidad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5. Enfoque neoclásico</a:t>
            </a:r>
            <a:endParaRPr lang="en-US" sz="3200" dirty="0"/>
          </a:p>
        </p:txBody>
      </p:sp>
      <p:sp>
        <p:nvSpPr>
          <p:cNvPr id="3" name="enfasis"/>
          <p:cNvSpPr txBox="1"/>
          <p:nvPr/>
        </p:nvSpPr>
        <p:spPr>
          <a:xfrm>
            <a:off x="457200" y="932688"/>
            <a:ext cx="8229600" cy="320040"/>
          </a:xfrm>
          <a:prstGeom prst="rect">
            <a:avLst/>
          </a:prstGeom>
          <a:noFill/>
          <a:ln/>
        </p:spPr>
        <p:txBody>
          <a:bodyPr wrap="square" lIns="0" tIns="0" rIns="0" bIns="0" rtlCol="0" anchor="ctr"/>
          <a:lstStyle/>
          <a:p>
            <a:pPr indent="0" marL="0">
              <a:buNone/>
            </a:pPr>
            <a:r>
              <a:rPr lang="en-US" sz="1400" b="1" dirty="0">
                <a:solidFill>
                  <a:schemeClr val="accent1"/>
                </a:solidFill>
              </a:rPr>
              <a:t>Énfasis: </a:t>
            </a:r>
            <a:pPr indent="0" marL="0">
              <a:buNone/>
            </a:pPr>
            <a:r>
              <a:rPr lang="en-US" sz="1400" dirty="0">
                <a:solidFill>
                  <a:schemeClr val="tx1"/>
                </a:solidFill>
              </a:rPr>
              <a:t>los resultados · 1950-1970 · retoma a Fayol y lo vuelve práctico</a:t>
            </a:r>
            <a:endParaRPr lang="en-US" sz="1400" dirty="0"/>
          </a:p>
        </p:txBody>
      </p:sp>
      <p:sp>
        <p:nvSpPr>
          <p:cNvPr id="4" name="marco_Peter Drucker"/>
          <p:cNvSpPr/>
          <p:nvPr/>
        </p:nvSpPr>
        <p:spPr>
          <a:xfrm>
            <a:off x="493776" y="1453896"/>
            <a:ext cx="1572768" cy="2057400"/>
          </a:xfrm>
          <a:prstGeom prst="rect">
            <a:avLst/>
          </a:prstGeom>
          <a:solidFill>
            <a:srgbClr val="FFFFFF"/>
          </a:solidFill>
          <a:ln w="25400">
            <a:solidFill>
              <a:srgbClr val="D9822B"/>
            </a:solidFill>
            <a:prstDash val="solid"/>
          </a:ln>
          <a:effectLst>
            <a:outerShdw sx="100000" sy="100000" kx="0" ky="0" algn="bl" rotWithShape="0" blurRad="50800" dist="25400" dir="2700000">
              <a:srgbClr val="000000">
                <a:alpha val="25000"/>
              </a:srgbClr>
            </a:outerShdw>
          </a:effectLst>
        </p:spPr>
      </p:sp>
      <p:pic>
        <p:nvPicPr>
          <p:cNvPr id="5" name="foto_Peter Drucker" descr="Retrato de Peter Drucker">    </p:cNvPr>
          <p:cNvPicPr>
            <a:picLocks noChangeAspect="1"/>
          </p:cNvPicPr>
          <p:nvPr/>
        </p:nvPicPr>
        <p:blipFill>
          <a:blip r:embed="rId1"/>
          <a:srcRect l="0" r="0" t="0" b="0"/>
          <a:stretch/>
        </p:blipFill>
        <p:spPr>
          <a:xfrm>
            <a:off x="548640" y="1508760"/>
            <a:ext cx="1463040" cy="1947672"/>
          </a:xfrm>
          <a:prstGeom prst="rect">
            <a:avLst/>
          </a:prstGeom>
        </p:spPr>
      </p:pic>
      <p:sp>
        <p:nvSpPr>
          <p:cNvPr id="6" name="Text 3"/>
          <p:cNvSpPr txBox="1"/>
          <p:nvPr/>
        </p:nvSpPr>
        <p:spPr>
          <a:xfrm>
            <a:off x="457200" y="3584448"/>
            <a:ext cx="1645920" cy="228600"/>
          </a:xfrm>
          <a:prstGeom prst="rect">
            <a:avLst/>
          </a:prstGeom>
          <a:noFill/>
          <a:ln/>
        </p:spPr>
        <p:txBody>
          <a:bodyPr wrap="square" lIns="0" tIns="0" rIns="0" bIns="0" rtlCol="0" anchor="ctr"/>
          <a:lstStyle/>
          <a:p>
            <a:pPr algn="ctr" indent="0" marL="0">
              <a:buNone/>
            </a:pPr>
            <a:r>
              <a:rPr lang="en-US" sz="1000" b="1" dirty="0">
                <a:solidFill>
                  <a:schemeClr val="accent1"/>
                </a:solidFill>
              </a:rPr>
              <a:t>Autor principal</a:t>
            </a:r>
            <a:endParaRPr lang="en-US" sz="1000" dirty="0"/>
          </a:p>
        </p:txBody>
      </p:sp>
      <p:sp>
        <p:nvSpPr>
          <p:cNvPr id="7" name="Text 4"/>
          <p:cNvSpPr txBox="1"/>
          <p:nvPr/>
        </p:nvSpPr>
        <p:spPr>
          <a:xfrm>
            <a:off x="2286000" y="1463040"/>
            <a:ext cx="3108960" cy="365760"/>
          </a:xfrm>
          <a:prstGeom prst="rect">
            <a:avLst/>
          </a:prstGeom>
          <a:noFill/>
          <a:ln/>
        </p:spPr>
        <p:txBody>
          <a:bodyPr wrap="square" lIns="0" tIns="0" rIns="0" bIns="0" rtlCol="0" anchor="ctr"/>
          <a:lstStyle/>
          <a:p>
            <a:pPr indent="0" marL="0">
              <a:buNone/>
            </a:pPr>
            <a:r>
              <a:rPr lang="en-US" sz="2000" b="1" dirty="0">
                <a:solidFill>
                  <a:schemeClr val="tx2"/>
                </a:solidFill>
              </a:rPr>
              <a:t>Peter Drucker</a:t>
            </a:r>
            <a:endParaRPr lang="en-US" sz="2000" dirty="0"/>
          </a:p>
        </p:txBody>
      </p:sp>
      <p:sp>
        <p:nvSpPr>
          <p:cNvPr id="8" name="Text 5"/>
          <p:cNvSpPr txBox="1"/>
          <p:nvPr/>
        </p:nvSpPr>
        <p:spPr>
          <a:xfrm>
            <a:off x="2286000" y="1810512"/>
            <a:ext cx="3108960" cy="228600"/>
          </a:xfrm>
          <a:prstGeom prst="rect">
            <a:avLst/>
          </a:prstGeom>
          <a:noFill/>
          <a:ln/>
        </p:spPr>
        <p:txBody>
          <a:bodyPr wrap="square" lIns="0" tIns="0" rIns="0" bIns="0" rtlCol="0" anchor="ctr"/>
          <a:lstStyle/>
          <a:p>
            <a:pPr indent="0" marL="0">
              <a:buNone/>
            </a:pPr>
            <a:r>
              <a:rPr lang="en-US" sz="1100" dirty="0">
                <a:solidFill>
                  <a:schemeClr val="accent4"/>
                </a:solidFill>
              </a:rPr>
              <a:t>1909-2005 · padre de la administración moderna</a:t>
            </a:r>
            <a:endParaRPr lang="en-US" sz="1100" dirty="0"/>
          </a:p>
        </p:txBody>
      </p:sp>
      <p:sp>
        <p:nvSpPr>
          <p:cNvPr id="9" name="drucker_txt"/>
          <p:cNvSpPr txBox="1"/>
          <p:nvPr/>
        </p:nvSpPr>
        <p:spPr>
          <a:xfrm>
            <a:off x="2286000" y="2148840"/>
            <a:ext cx="310896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Administración por objetivos (APO): jefe y empleado acuerdan metas</a:t>
            </a:r>
            <a:endParaRPr lang="en-US" sz="1300" dirty="0"/>
          </a:p>
          <a:p>
            <a:pPr marL="342900" indent="-342900">
              <a:spcAft>
                <a:spcPts val="600"/>
              </a:spcAft>
              <a:buSzPct val="100000"/>
              <a:buChar char="•"/>
            </a:pPr>
            <a:r>
              <a:rPr lang="en-US" sz="1300" dirty="0">
                <a:solidFill>
                  <a:schemeClr val="tx1"/>
                </a:solidFill>
              </a:rPr>
              <a:t>Se evalúa a cada quien por resultados</a:t>
            </a:r>
            <a:endParaRPr lang="en-US" sz="1300" dirty="0"/>
          </a:p>
          <a:p>
            <a:pPr marL="342900" indent="-342900">
              <a:spcAft>
                <a:spcPts val="600"/>
              </a:spcAft>
              <a:buSzPct val="100000"/>
              <a:buChar char="•"/>
            </a:pPr>
            <a:r>
              <a:rPr lang="en-US" sz="1300" dirty="0">
                <a:solidFill>
                  <a:schemeClr val="tx1"/>
                </a:solidFill>
              </a:rPr>
              <a:t>La utilidad no es el único objetivo: también innovación y responsabilidad social</a:t>
            </a:r>
            <a:endParaRPr lang="en-US" sz="1300" dirty="0"/>
          </a:p>
        </p:txBody>
      </p:sp>
      <p:sp>
        <p:nvSpPr>
          <p:cNvPr id="10" name="tarj_Harold Koontz"/>
          <p:cNvSpPr/>
          <p:nvPr/>
        </p:nvSpPr>
        <p:spPr>
          <a:xfrm>
            <a:off x="5669280" y="1417320"/>
            <a:ext cx="3017520" cy="1417320"/>
          </a:xfrm>
          <a:prstGeom prst="roundRect">
            <a:avLst>
              <a:gd name="adj" fmla="val 5161"/>
            </a:avLst>
          </a:prstGeom>
          <a:solidFill>
            <a:srgbClr val="EEF1F4"/>
          </a:solidFill>
          <a:ln w="12700">
            <a:solidFill>
              <a:srgbClr val="EEF1F4"/>
            </a:solidFill>
            <a:prstDash val="solid"/>
          </a:ln>
        </p:spPr>
      </p:sp>
      <p:sp>
        <p:nvSpPr>
          <p:cNvPr id="11" name="circ_Harold Koontz"/>
          <p:cNvSpPr/>
          <p:nvPr/>
        </p:nvSpPr>
        <p:spPr>
          <a:xfrm>
            <a:off x="5833872" y="1600200"/>
            <a:ext cx="502920" cy="502920"/>
          </a:xfrm>
          <a:prstGeom prst="ellipse">
            <a:avLst/>
          </a:prstGeom>
          <a:solidFill>
            <a:srgbClr val="D9822B"/>
          </a:solidFill>
          <a:ln w="12700">
            <a:solidFill>
              <a:srgbClr val="D9822B"/>
            </a:solidFill>
            <a:prstDash val="solid"/>
          </a:ln>
        </p:spPr>
      </p:sp>
      <p:pic>
        <p:nvPicPr>
          <p:cNvPr id="12" name="ic_Harold Koontz" descr="preencoded.png">    </p:cNvPr>
          <p:cNvPicPr>
            <a:picLocks noChangeAspect="1"/>
          </p:cNvPicPr>
          <p:nvPr/>
        </p:nvPicPr>
        <p:blipFill>
          <a:blip r:embed="rId2"/>
          <a:stretch>
            <a:fillRect/>
          </a:stretch>
        </p:blipFill>
        <p:spPr>
          <a:xfrm>
            <a:off x="5957316" y="1723644"/>
            <a:ext cx="256032" cy="256032"/>
          </a:xfrm>
          <a:prstGeom prst="rect">
            <a:avLst/>
          </a:prstGeom>
        </p:spPr>
      </p:pic>
      <p:sp>
        <p:nvSpPr>
          <p:cNvPr id="13" name="Text 9"/>
          <p:cNvSpPr txBox="1"/>
          <p:nvPr/>
        </p:nvSpPr>
        <p:spPr>
          <a:xfrm>
            <a:off x="6446520" y="1600200"/>
            <a:ext cx="2148840" cy="502920"/>
          </a:xfrm>
          <a:prstGeom prst="rect">
            <a:avLst/>
          </a:prstGeom>
          <a:noFill/>
          <a:ln/>
        </p:spPr>
        <p:txBody>
          <a:bodyPr wrap="square" lIns="0" tIns="0" rIns="0" bIns="0" rtlCol="0" anchor="ctr"/>
          <a:lstStyle/>
          <a:p>
            <a:pPr indent="0" marL="0">
              <a:buNone/>
            </a:pPr>
            <a:r>
              <a:rPr lang="en-US" sz="1400" b="1" dirty="0">
                <a:solidFill>
                  <a:schemeClr val="tx2"/>
                </a:solidFill>
              </a:rPr>
              <a:t>Harold Koontz</a:t>
            </a:r>
            <a:endParaRPr lang="en-US" sz="1400" dirty="0"/>
          </a:p>
        </p:txBody>
      </p:sp>
      <p:sp>
        <p:nvSpPr>
          <p:cNvPr id="14" name="Text 10"/>
          <p:cNvSpPr txBox="1"/>
          <p:nvPr/>
        </p:nvSpPr>
        <p:spPr>
          <a:xfrm>
            <a:off x="5833872" y="2194560"/>
            <a:ext cx="2743200" cy="548640"/>
          </a:xfrm>
          <a:prstGeom prst="rect">
            <a:avLst/>
          </a:prstGeom>
          <a:noFill/>
          <a:ln/>
        </p:spPr>
        <p:txBody>
          <a:bodyPr wrap="square" lIns="0" tIns="0" rIns="0" bIns="0" rtlCol="0" anchor="t"/>
          <a:lstStyle/>
          <a:p>
            <a:pPr indent="0" marL="0">
              <a:buNone/>
            </a:pPr>
            <a:r>
              <a:rPr lang="en-US" sz="1100" dirty="0">
                <a:solidFill>
                  <a:schemeClr val="tx1"/>
                </a:solidFill>
              </a:rPr>
              <a:t>Ordenó el trabajo del directivo en funciones: planear, organizar, integrar personal, dirigir y controlar</a:t>
            </a:r>
            <a:endParaRPr lang="en-US" sz="1100" dirty="0"/>
          </a:p>
        </p:txBody>
      </p:sp>
      <p:sp>
        <p:nvSpPr>
          <p:cNvPr id="15" name="tarj_Ernest Dale"/>
          <p:cNvSpPr/>
          <p:nvPr/>
        </p:nvSpPr>
        <p:spPr>
          <a:xfrm>
            <a:off x="5669280" y="3017520"/>
            <a:ext cx="3017520" cy="1417320"/>
          </a:xfrm>
          <a:prstGeom prst="roundRect">
            <a:avLst>
              <a:gd name="adj" fmla="val 5161"/>
            </a:avLst>
          </a:prstGeom>
          <a:solidFill>
            <a:srgbClr val="EEF1F4"/>
          </a:solidFill>
          <a:ln w="12700">
            <a:solidFill>
              <a:srgbClr val="EEF1F4"/>
            </a:solidFill>
            <a:prstDash val="solid"/>
          </a:ln>
        </p:spPr>
      </p:sp>
      <p:sp>
        <p:nvSpPr>
          <p:cNvPr id="16" name="circ_Ernest Dale"/>
          <p:cNvSpPr/>
          <p:nvPr/>
        </p:nvSpPr>
        <p:spPr>
          <a:xfrm>
            <a:off x="5833872" y="3200400"/>
            <a:ext cx="502920" cy="502920"/>
          </a:xfrm>
          <a:prstGeom prst="ellipse">
            <a:avLst/>
          </a:prstGeom>
          <a:solidFill>
            <a:srgbClr val="D9822B"/>
          </a:solidFill>
          <a:ln w="12700">
            <a:solidFill>
              <a:srgbClr val="D9822B"/>
            </a:solidFill>
            <a:prstDash val="solid"/>
          </a:ln>
        </p:spPr>
      </p:sp>
      <p:pic>
        <p:nvPicPr>
          <p:cNvPr id="17" name="ic_Ernest Dale" descr="preencoded.png">    </p:cNvPr>
          <p:cNvPicPr>
            <a:picLocks noChangeAspect="1"/>
          </p:cNvPicPr>
          <p:nvPr/>
        </p:nvPicPr>
        <p:blipFill>
          <a:blip r:embed="rId3"/>
          <a:stretch>
            <a:fillRect/>
          </a:stretch>
        </p:blipFill>
        <p:spPr>
          <a:xfrm>
            <a:off x="5957316" y="3323844"/>
            <a:ext cx="256032" cy="256032"/>
          </a:xfrm>
          <a:prstGeom prst="rect">
            <a:avLst/>
          </a:prstGeom>
        </p:spPr>
      </p:pic>
      <p:sp>
        <p:nvSpPr>
          <p:cNvPr id="18" name="Text 13"/>
          <p:cNvSpPr txBox="1"/>
          <p:nvPr/>
        </p:nvSpPr>
        <p:spPr>
          <a:xfrm>
            <a:off x="6446520" y="3200400"/>
            <a:ext cx="2148840" cy="502920"/>
          </a:xfrm>
          <a:prstGeom prst="rect">
            <a:avLst/>
          </a:prstGeom>
          <a:noFill/>
          <a:ln/>
        </p:spPr>
        <p:txBody>
          <a:bodyPr wrap="square" lIns="0" tIns="0" rIns="0" bIns="0" rtlCol="0" anchor="ctr"/>
          <a:lstStyle/>
          <a:p>
            <a:pPr indent="0" marL="0">
              <a:buNone/>
            </a:pPr>
            <a:r>
              <a:rPr lang="en-US" sz="1400" b="1" dirty="0">
                <a:solidFill>
                  <a:schemeClr val="tx2"/>
                </a:solidFill>
              </a:rPr>
              <a:t>Ernest Dale</a:t>
            </a:r>
            <a:endParaRPr lang="en-US" sz="1400" dirty="0"/>
          </a:p>
        </p:txBody>
      </p:sp>
      <p:sp>
        <p:nvSpPr>
          <p:cNvPr id="19" name="Text 14"/>
          <p:cNvSpPr txBox="1"/>
          <p:nvPr/>
        </p:nvSpPr>
        <p:spPr>
          <a:xfrm>
            <a:off x="5833872" y="3794760"/>
            <a:ext cx="2743200" cy="548640"/>
          </a:xfrm>
          <a:prstGeom prst="rect">
            <a:avLst/>
          </a:prstGeom>
          <a:noFill/>
          <a:ln/>
        </p:spPr>
        <p:txBody>
          <a:bodyPr wrap="square" lIns="0" tIns="0" rIns="0" bIns="0" rtlCol="0" anchor="t"/>
          <a:lstStyle/>
          <a:p>
            <a:pPr indent="0" marL="0">
              <a:buNone/>
            </a:pPr>
            <a:r>
              <a:rPr lang="en-US" sz="1100" dirty="0">
                <a:solidFill>
                  <a:schemeClr val="tx1"/>
                </a:solidFill>
              </a:rPr>
              <a:t>Dirigir no es ciencia exacta: se aprende con casos reales y sentido común</a:t>
            </a:r>
            <a:endParaRPr lang="en-US" sz="1100" dirty="0"/>
          </a:p>
        </p:txBody>
      </p:sp>
      <p:sp>
        <p:nvSpPr>
          <p:cNvPr id="20" name="cred1"/>
          <p:cNvSpPr txBox="1"/>
          <p:nvPr/>
        </p:nvSpPr>
        <p:spPr>
          <a:xfrm>
            <a:off x="457200" y="4800600"/>
            <a:ext cx="5943600" cy="228600"/>
          </a:xfrm>
          <a:prstGeom prst="rect">
            <a:avLst/>
          </a:prstGeom>
          <a:noFill/>
          <a:ln/>
        </p:spPr>
        <p:txBody>
          <a:bodyPr wrap="square" lIns="0" tIns="0" rIns="0" bIns="0" rtlCol="0" anchor="ctr"/>
          <a:lstStyle/>
          <a:p>
            <a:pPr indent="0" marL="0">
              <a:buNone/>
            </a:pPr>
            <a:r>
              <a:rPr lang="en-US" sz="1000" dirty="0">
                <a:solidFill>
                  <a:schemeClr val="accent4"/>
                </a:solidFill>
              </a:rPr>
              <a:t>Retrato de Drucker: Jeff McNeill, Wikimedia Commons, CC BY-SA 2.0.</a:t>
            </a:r>
            <a:endParaRPr lang="en-US" sz="1000" dirty="0"/>
          </a:p>
        </p:txBody>
      </p:sp>
      <p:sp>
        <p:nvSpPr>
          <p:cNvPr id="25" name="Slide Number Placeholder 0"/>
          <p:cNvSpPr>
            <a:spLocks noGrp="1"/>
          </p:cNvSpPr>
          <p:nvPr>
            <p:ph type="sldNum" sz="quarter" idx="4294967295"/>
          </p:nvPr>
        </p:nvSpPr>
        <p:spPr>
          <a:xfrm>
            <a:off x="850392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A8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Neoclásico: lo que se le critica</a:t>
            </a:r>
            <a:endParaRPr lang="en-US" sz="3200" dirty="0"/>
          </a:p>
        </p:txBody>
      </p:sp>
      <p:sp>
        <p:nvSpPr>
          <p:cNvPr id="3" name="crit_n0"/>
          <p:cNvSpPr/>
          <p:nvPr/>
        </p:nvSpPr>
        <p:spPr>
          <a:xfrm>
            <a:off x="457200" y="1188720"/>
            <a:ext cx="2606040" cy="2331720"/>
          </a:xfrm>
          <a:prstGeom prst="roundRect">
            <a:avLst>
              <a:gd name="adj" fmla="val 3137"/>
            </a:avLst>
          </a:prstGeom>
          <a:solidFill>
            <a:srgbClr val="F8E6E3"/>
          </a:solidFill>
          <a:ln w="12700">
            <a:solidFill>
              <a:srgbClr val="F8E6E3"/>
            </a:solidFill>
            <a:prstDash val="solid"/>
          </a:ln>
        </p:spPr>
      </p:sp>
      <p:sp>
        <p:nvSpPr>
          <p:cNvPr id="4" name="circ_n0"/>
          <p:cNvSpPr/>
          <p:nvPr/>
        </p:nvSpPr>
        <p:spPr>
          <a:xfrm>
            <a:off x="685800" y="1371600"/>
            <a:ext cx="594360" cy="594360"/>
          </a:xfrm>
          <a:prstGeom prst="ellipse">
            <a:avLst/>
          </a:prstGeom>
          <a:solidFill>
            <a:srgbClr val="B83A2E"/>
          </a:solidFill>
          <a:ln w="12700">
            <a:solidFill>
              <a:srgbClr val="B83A2E"/>
            </a:solidFill>
            <a:prstDash val="solid"/>
          </a:ln>
        </p:spPr>
      </p:sp>
      <p:pic>
        <p:nvPicPr>
          <p:cNvPr id="5" name="ic_n0" descr="preencoded.png">    </p:cNvPr>
          <p:cNvPicPr>
            <a:picLocks noChangeAspect="1"/>
          </p:cNvPicPr>
          <p:nvPr/>
        </p:nvPicPr>
        <p:blipFill>
          <a:blip r:embed="rId1"/>
          <a:stretch>
            <a:fillRect/>
          </a:stretch>
        </p:blipFill>
        <p:spPr>
          <a:xfrm>
            <a:off x="827532" y="1513332"/>
            <a:ext cx="310896" cy="310896"/>
          </a:xfrm>
          <a:prstGeom prst="rect">
            <a:avLst/>
          </a:prstGeom>
        </p:spPr>
      </p:pic>
      <p:sp>
        <p:nvSpPr>
          <p:cNvPr id="6" name="Text 3"/>
          <p:cNvSpPr txBox="1"/>
          <p:nvPr/>
        </p:nvSpPr>
        <p:spPr>
          <a:xfrm>
            <a:off x="685800" y="2103120"/>
            <a:ext cx="2194560" cy="365760"/>
          </a:xfrm>
          <a:prstGeom prst="rect">
            <a:avLst/>
          </a:prstGeom>
          <a:noFill/>
          <a:ln/>
        </p:spPr>
        <p:txBody>
          <a:bodyPr wrap="square" lIns="0" tIns="0" rIns="0" bIns="0" rtlCol="0" anchor="ctr"/>
          <a:lstStyle/>
          <a:p>
            <a:pPr indent="0" marL="0">
              <a:buNone/>
            </a:pPr>
            <a:r>
              <a:rPr lang="en-US" sz="1600" b="1" dirty="0">
                <a:solidFill>
                  <a:schemeClr val="accent3"/>
                </a:solidFill>
              </a:rPr>
              <a:t>Poco original</a:t>
            </a:r>
            <a:endParaRPr lang="en-US" sz="1600" dirty="0"/>
          </a:p>
        </p:txBody>
      </p:sp>
      <p:sp>
        <p:nvSpPr>
          <p:cNvPr id="7" name="Text 4"/>
          <p:cNvSpPr txBox="1"/>
          <p:nvPr/>
        </p:nvSpPr>
        <p:spPr>
          <a:xfrm>
            <a:off x="685800" y="2514600"/>
            <a:ext cx="2194560" cy="914400"/>
          </a:xfrm>
          <a:prstGeom prst="rect">
            <a:avLst/>
          </a:prstGeom>
          <a:noFill/>
          <a:ln/>
        </p:spPr>
        <p:txBody>
          <a:bodyPr wrap="square" lIns="0" tIns="0" rIns="0" bIns="0" rtlCol="0" anchor="t"/>
          <a:lstStyle/>
          <a:p>
            <a:pPr indent="0" marL="0">
              <a:buNone/>
            </a:pPr>
            <a:r>
              <a:rPr lang="en-US" sz="1300" dirty="0">
                <a:solidFill>
                  <a:schemeClr val="tx1"/>
                </a:solidFill>
              </a:rPr>
              <a:t>Es la teoría de Fayol "con ropa nueva"</a:t>
            </a:r>
            <a:endParaRPr lang="en-US" sz="1300" dirty="0"/>
          </a:p>
        </p:txBody>
      </p:sp>
      <p:sp>
        <p:nvSpPr>
          <p:cNvPr id="8" name="crit_n1"/>
          <p:cNvSpPr/>
          <p:nvPr/>
        </p:nvSpPr>
        <p:spPr>
          <a:xfrm>
            <a:off x="3291840" y="1188720"/>
            <a:ext cx="2606040" cy="2331720"/>
          </a:xfrm>
          <a:prstGeom prst="roundRect">
            <a:avLst>
              <a:gd name="adj" fmla="val 3137"/>
            </a:avLst>
          </a:prstGeom>
          <a:solidFill>
            <a:srgbClr val="F8E6E3"/>
          </a:solidFill>
          <a:ln w="12700">
            <a:solidFill>
              <a:srgbClr val="F8E6E3"/>
            </a:solidFill>
            <a:prstDash val="solid"/>
          </a:ln>
        </p:spPr>
      </p:sp>
      <p:sp>
        <p:nvSpPr>
          <p:cNvPr id="9" name="circ_n1"/>
          <p:cNvSpPr/>
          <p:nvPr/>
        </p:nvSpPr>
        <p:spPr>
          <a:xfrm>
            <a:off x="3520440" y="1371600"/>
            <a:ext cx="594360" cy="594360"/>
          </a:xfrm>
          <a:prstGeom prst="ellipse">
            <a:avLst/>
          </a:prstGeom>
          <a:solidFill>
            <a:srgbClr val="B83A2E"/>
          </a:solidFill>
          <a:ln w="12700">
            <a:solidFill>
              <a:srgbClr val="B83A2E"/>
            </a:solidFill>
            <a:prstDash val="solid"/>
          </a:ln>
        </p:spPr>
      </p:sp>
      <p:pic>
        <p:nvPicPr>
          <p:cNvPr id="10" name="ic_n1" descr="preencoded.png">    </p:cNvPr>
          <p:cNvPicPr>
            <a:picLocks noChangeAspect="1"/>
          </p:cNvPicPr>
          <p:nvPr/>
        </p:nvPicPr>
        <p:blipFill>
          <a:blip r:embed="rId2"/>
          <a:stretch>
            <a:fillRect/>
          </a:stretch>
        </p:blipFill>
        <p:spPr>
          <a:xfrm>
            <a:off x="3662172" y="1513332"/>
            <a:ext cx="310896" cy="310896"/>
          </a:xfrm>
          <a:prstGeom prst="rect">
            <a:avLst/>
          </a:prstGeom>
        </p:spPr>
      </p:pic>
      <p:sp>
        <p:nvSpPr>
          <p:cNvPr id="11" name="Text 7"/>
          <p:cNvSpPr txBox="1"/>
          <p:nvPr/>
        </p:nvSpPr>
        <p:spPr>
          <a:xfrm>
            <a:off x="3520440" y="2103120"/>
            <a:ext cx="2194560" cy="365760"/>
          </a:xfrm>
          <a:prstGeom prst="rect">
            <a:avLst/>
          </a:prstGeom>
          <a:noFill/>
          <a:ln/>
        </p:spPr>
        <p:txBody>
          <a:bodyPr wrap="square" lIns="0" tIns="0" rIns="0" bIns="0" rtlCol="0" anchor="ctr"/>
          <a:lstStyle/>
          <a:p>
            <a:pPr indent="0" marL="0">
              <a:buNone/>
            </a:pPr>
            <a:r>
              <a:rPr lang="en-US" sz="1600" b="1" dirty="0">
                <a:solidFill>
                  <a:schemeClr val="accent3"/>
                </a:solidFill>
              </a:rPr>
              <a:t>Ecléctico</a:t>
            </a:r>
            <a:endParaRPr lang="en-US" sz="1600" dirty="0"/>
          </a:p>
        </p:txBody>
      </p:sp>
      <p:sp>
        <p:nvSpPr>
          <p:cNvPr id="12" name="Text 8"/>
          <p:cNvSpPr txBox="1"/>
          <p:nvPr/>
        </p:nvSpPr>
        <p:spPr>
          <a:xfrm>
            <a:off x="3520440" y="2514600"/>
            <a:ext cx="2194560" cy="914400"/>
          </a:xfrm>
          <a:prstGeom prst="rect">
            <a:avLst/>
          </a:prstGeom>
          <a:noFill/>
          <a:ln/>
        </p:spPr>
        <p:txBody>
          <a:bodyPr wrap="square" lIns="0" tIns="0" rIns="0" bIns="0" rtlCol="0" anchor="t"/>
          <a:lstStyle/>
          <a:p>
            <a:pPr indent="0" marL="0">
              <a:buNone/>
            </a:pPr>
            <a:r>
              <a:rPr lang="en-US" sz="1300" dirty="0">
                <a:solidFill>
                  <a:schemeClr val="tx1"/>
                </a:solidFill>
              </a:rPr>
              <a:t>Junta ideas de varias escuelas sin marco teórico propio</a:t>
            </a:r>
            <a:endParaRPr lang="en-US" sz="1300" dirty="0"/>
          </a:p>
        </p:txBody>
      </p:sp>
      <p:sp>
        <p:nvSpPr>
          <p:cNvPr id="13" name="crit_n2"/>
          <p:cNvSpPr/>
          <p:nvPr/>
        </p:nvSpPr>
        <p:spPr>
          <a:xfrm>
            <a:off x="6126480" y="1188720"/>
            <a:ext cx="2606040" cy="2331720"/>
          </a:xfrm>
          <a:prstGeom prst="roundRect">
            <a:avLst>
              <a:gd name="adj" fmla="val 3137"/>
            </a:avLst>
          </a:prstGeom>
          <a:solidFill>
            <a:srgbClr val="F8E6E3"/>
          </a:solidFill>
          <a:ln w="12700">
            <a:solidFill>
              <a:srgbClr val="F8E6E3"/>
            </a:solidFill>
            <a:prstDash val="solid"/>
          </a:ln>
        </p:spPr>
      </p:sp>
      <p:sp>
        <p:nvSpPr>
          <p:cNvPr id="14" name="circ_n2"/>
          <p:cNvSpPr/>
          <p:nvPr/>
        </p:nvSpPr>
        <p:spPr>
          <a:xfrm>
            <a:off x="6355080" y="1371600"/>
            <a:ext cx="594360" cy="594360"/>
          </a:xfrm>
          <a:prstGeom prst="ellipse">
            <a:avLst/>
          </a:prstGeom>
          <a:solidFill>
            <a:srgbClr val="B83A2E"/>
          </a:solidFill>
          <a:ln w="12700">
            <a:solidFill>
              <a:srgbClr val="B83A2E"/>
            </a:solidFill>
            <a:prstDash val="solid"/>
          </a:ln>
        </p:spPr>
      </p:sp>
      <p:pic>
        <p:nvPicPr>
          <p:cNvPr id="15" name="ic_n2" descr="preencoded.png">    </p:cNvPr>
          <p:cNvPicPr>
            <a:picLocks noChangeAspect="1"/>
          </p:cNvPicPr>
          <p:nvPr/>
        </p:nvPicPr>
        <p:blipFill>
          <a:blip r:embed="rId3"/>
          <a:stretch>
            <a:fillRect/>
          </a:stretch>
        </p:blipFill>
        <p:spPr>
          <a:xfrm>
            <a:off x="6496812" y="1513332"/>
            <a:ext cx="310896" cy="310896"/>
          </a:xfrm>
          <a:prstGeom prst="rect">
            <a:avLst/>
          </a:prstGeom>
        </p:spPr>
      </p:pic>
      <p:sp>
        <p:nvSpPr>
          <p:cNvPr id="16" name="Text 11"/>
          <p:cNvSpPr txBox="1"/>
          <p:nvPr/>
        </p:nvSpPr>
        <p:spPr>
          <a:xfrm>
            <a:off x="6355080" y="2103120"/>
            <a:ext cx="2194560" cy="365760"/>
          </a:xfrm>
          <a:prstGeom prst="rect">
            <a:avLst/>
          </a:prstGeom>
          <a:noFill/>
          <a:ln/>
        </p:spPr>
        <p:txBody>
          <a:bodyPr wrap="square" lIns="0" tIns="0" rIns="0" bIns="0" rtlCol="0" anchor="ctr"/>
          <a:lstStyle/>
          <a:p>
            <a:pPr indent="0" marL="0">
              <a:buNone/>
            </a:pPr>
            <a:r>
              <a:rPr lang="en-US" sz="1600" b="1" dirty="0">
                <a:solidFill>
                  <a:schemeClr val="accent3"/>
                </a:solidFill>
              </a:rPr>
              <a:t>Presión por metas</a:t>
            </a:r>
            <a:endParaRPr lang="en-US" sz="1600" dirty="0"/>
          </a:p>
        </p:txBody>
      </p:sp>
      <p:sp>
        <p:nvSpPr>
          <p:cNvPr id="17" name="Text 12"/>
          <p:cNvSpPr txBox="1"/>
          <p:nvPr/>
        </p:nvSpPr>
        <p:spPr>
          <a:xfrm>
            <a:off x="6355080" y="2514600"/>
            <a:ext cx="2194560" cy="914400"/>
          </a:xfrm>
          <a:prstGeom prst="rect">
            <a:avLst/>
          </a:prstGeom>
          <a:noFill/>
          <a:ln/>
        </p:spPr>
        <p:txBody>
          <a:bodyPr wrap="square" lIns="0" tIns="0" rIns="0" bIns="0" rtlCol="0" anchor="t"/>
          <a:lstStyle/>
          <a:p>
            <a:pPr indent="0" marL="0">
              <a:buNone/>
            </a:pPr>
            <a:r>
              <a:rPr lang="en-US" sz="1300" dirty="0">
                <a:solidFill>
                  <a:schemeClr val="tx1"/>
                </a:solidFill>
              </a:rPr>
              <a:t>La APO mal usada premia solo lo que se puede medir</a:t>
            </a:r>
            <a:endParaRPr lang="en-US" sz="1300" dirty="0"/>
          </a:p>
        </p:txBody>
      </p:sp>
      <p:sp>
        <p:nvSpPr>
          <p:cNvPr id="18" name="puente"/>
          <p:cNvSpPr/>
          <p:nvPr/>
        </p:nvSpPr>
        <p:spPr>
          <a:xfrm>
            <a:off x="457200" y="3794760"/>
            <a:ext cx="8229600" cy="731520"/>
          </a:xfrm>
          <a:prstGeom prst="roundRect">
            <a:avLst>
              <a:gd name="adj" fmla="val 10000"/>
            </a:avLst>
          </a:prstGeom>
          <a:solidFill>
            <a:srgbClr val="23303D"/>
          </a:solidFill>
          <a:ln w="12700">
            <a:solidFill>
              <a:srgbClr val="23303D"/>
            </a:solidFill>
            <a:prstDash val="solid"/>
          </a:ln>
        </p:spPr>
      </p:sp>
      <p:sp>
        <p:nvSpPr>
          <p:cNvPr id="19" name="puente_txt"/>
          <p:cNvSpPr txBox="1"/>
          <p:nvPr/>
        </p:nvSpPr>
        <p:spPr>
          <a:xfrm>
            <a:off x="685800" y="3794760"/>
            <a:ext cx="7772400" cy="731520"/>
          </a:xfrm>
          <a:prstGeom prst="rect">
            <a:avLst/>
          </a:prstGeom>
          <a:noFill/>
          <a:ln/>
        </p:spPr>
        <p:txBody>
          <a:bodyPr wrap="square" lIns="0" tIns="0" rIns="0" bIns="0" rtlCol="0" anchor="ctr"/>
          <a:lstStyle/>
          <a:p>
            <a:pPr indent="0" marL="0">
              <a:buNone/>
            </a:pPr>
            <a:r>
              <a:rPr lang="en-US" sz="1500" b="1" dirty="0">
                <a:solidFill>
                  <a:schemeClr val="accent1"/>
                </a:solidFill>
              </a:rPr>
              <a:t>Al mismo tiempo: </a:t>
            </a:r>
            <a:pPr indent="0" marL="0">
              <a:buNone/>
            </a:pPr>
            <a:r>
              <a:rPr lang="en-US" sz="1500" dirty="0">
                <a:solidFill>
                  <a:schemeClr val="bg1"/>
                </a:solidFill>
              </a:rPr>
              <a:t>la psicología vuelve a la empresa para estudiar por qué trabajamos</a:t>
            </a:r>
            <a:endParaRPr lang="en-US" sz="1500" dirty="0"/>
          </a:p>
        </p:txBody>
      </p:sp>
      <p:sp>
        <p:nvSpPr>
          <p:cNvPr id="20" name="fuente2"/>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Fuente: apunte de Administración, UNAM-FCA (2026), pp. 90-94.</a:t>
            </a:r>
            <a:endParaRPr lang="en-US" sz="1000" dirty="0"/>
          </a:p>
        </p:txBody>
      </p:sp>
      <p:sp>
        <p:nvSpPr>
          <p:cNvPr id="25" name="Slide Number Placeholder 0"/>
          <p:cNvSpPr>
            <a:spLocks noGrp="1"/>
          </p:cNvSpPr>
          <p:nvPr>
            <p:ph type="sldNum" sz="quarter" idx="4294967295"/>
          </p:nvPr>
        </p:nvSpPr>
        <p:spPr>
          <a:xfrm>
            <a:off x="850392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A8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6. Enfoque neohumanorrelacionista</a:t>
            </a:r>
            <a:endParaRPr lang="en-US" sz="3200" dirty="0"/>
          </a:p>
        </p:txBody>
      </p:sp>
      <p:sp>
        <p:nvSpPr>
          <p:cNvPr id="3" name="enfasis2"/>
          <p:cNvSpPr txBox="1"/>
          <p:nvPr/>
        </p:nvSpPr>
        <p:spPr>
          <a:xfrm>
            <a:off x="457200" y="932688"/>
            <a:ext cx="8229600" cy="320040"/>
          </a:xfrm>
          <a:prstGeom prst="rect">
            <a:avLst/>
          </a:prstGeom>
          <a:noFill/>
          <a:ln/>
        </p:spPr>
        <p:txBody>
          <a:bodyPr wrap="square" lIns="0" tIns="0" rIns="0" bIns="0" rtlCol="0" anchor="ctr"/>
          <a:lstStyle/>
          <a:p>
            <a:pPr indent="0" marL="0">
              <a:buNone/>
            </a:pPr>
            <a:r>
              <a:rPr lang="en-US" sz="1400" b="1" dirty="0">
                <a:solidFill>
                  <a:schemeClr val="accent2"/>
                </a:solidFill>
              </a:rPr>
              <a:t>Énfasis: </a:t>
            </a:r>
            <a:pPr indent="0" marL="0">
              <a:buNone/>
            </a:pPr>
            <a:r>
              <a:rPr lang="en-US" sz="1400" dirty="0">
                <a:solidFill>
                  <a:schemeClr val="tx1"/>
                </a:solidFill>
              </a:rPr>
              <a:t>la motivación del individuo · finales de 1940-1970 · teoría del comportamiento</a:t>
            </a:r>
            <a:endParaRPr lang="en-US" sz="1400" dirty="0"/>
          </a:p>
        </p:txBody>
      </p:sp>
      <p:sp>
        <p:nvSpPr>
          <p:cNvPr id="4" name="marco_Abraham Maslow"/>
          <p:cNvSpPr/>
          <p:nvPr/>
        </p:nvSpPr>
        <p:spPr>
          <a:xfrm>
            <a:off x="493776" y="1453896"/>
            <a:ext cx="1435608" cy="1709928"/>
          </a:xfrm>
          <a:prstGeom prst="rect">
            <a:avLst/>
          </a:prstGeom>
          <a:solidFill>
            <a:srgbClr val="FFFFFF"/>
          </a:solidFill>
          <a:ln w="25400">
            <a:solidFill>
              <a:srgbClr val="3A7CA5"/>
            </a:solidFill>
            <a:prstDash val="solid"/>
          </a:ln>
          <a:effectLst>
            <a:outerShdw sx="100000" sy="100000" kx="0" ky="0" algn="bl" rotWithShape="0" blurRad="50800" dist="25400" dir="2700000">
              <a:srgbClr val="000000">
                <a:alpha val="25000"/>
              </a:srgbClr>
            </a:outerShdw>
          </a:effectLst>
        </p:spPr>
      </p:sp>
      <p:pic>
        <p:nvPicPr>
          <p:cNvPr id="5" name="foto_Abraham Maslow" descr="Retrato de Abraham Maslow">    </p:cNvPr>
          <p:cNvPicPr>
            <a:picLocks noChangeAspect="1"/>
          </p:cNvPicPr>
          <p:nvPr/>
        </p:nvPicPr>
        <p:blipFill>
          <a:blip r:embed="rId1"/>
          <a:srcRect l="0" r="0" t="0" b="0"/>
          <a:stretch/>
        </p:blipFill>
        <p:spPr>
          <a:xfrm>
            <a:off x="548640" y="1508760"/>
            <a:ext cx="1325880" cy="1600200"/>
          </a:xfrm>
          <a:prstGeom prst="rect">
            <a:avLst/>
          </a:prstGeom>
        </p:spPr>
      </p:pic>
      <p:sp>
        <p:nvSpPr>
          <p:cNvPr id="6" name="Text 3"/>
          <p:cNvSpPr txBox="1"/>
          <p:nvPr/>
        </p:nvSpPr>
        <p:spPr>
          <a:xfrm>
            <a:off x="411480" y="3200400"/>
            <a:ext cx="1600200" cy="274320"/>
          </a:xfrm>
          <a:prstGeom prst="rect">
            <a:avLst/>
          </a:prstGeom>
          <a:noFill/>
          <a:ln/>
        </p:spPr>
        <p:txBody>
          <a:bodyPr wrap="square" lIns="0" tIns="0" rIns="0" bIns="0" rtlCol="0" anchor="ctr"/>
          <a:lstStyle/>
          <a:p>
            <a:pPr algn="ctr" indent="0" marL="0">
              <a:buNone/>
            </a:pPr>
            <a:r>
              <a:rPr lang="en-US" sz="1300" b="1" dirty="0">
                <a:solidFill>
                  <a:schemeClr val="tx2"/>
                </a:solidFill>
              </a:rPr>
              <a:t>Abraham Maslow</a:t>
            </a:r>
            <a:endParaRPr lang="en-US" sz="1300" dirty="0"/>
          </a:p>
        </p:txBody>
      </p:sp>
      <p:sp>
        <p:nvSpPr>
          <p:cNvPr id="7" name="Text 4"/>
          <p:cNvSpPr txBox="1"/>
          <p:nvPr/>
        </p:nvSpPr>
        <p:spPr>
          <a:xfrm>
            <a:off x="411480" y="3456432"/>
            <a:ext cx="1600200" cy="228600"/>
          </a:xfrm>
          <a:prstGeom prst="rect">
            <a:avLst/>
          </a:prstGeom>
          <a:noFill/>
          <a:ln/>
        </p:spPr>
        <p:txBody>
          <a:bodyPr wrap="square" lIns="0" tIns="0" rIns="0" bIns="0" rtlCol="0" anchor="ctr"/>
          <a:lstStyle/>
          <a:p>
            <a:pPr algn="ctr" indent="0" marL="0">
              <a:buNone/>
            </a:pPr>
            <a:r>
              <a:rPr lang="en-US" sz="1000" dirty="0">
                <a:solidFill>
                  <a:schemeClr val="accent4"/>
                </a:solidFill>
              </a:rPr>
              <a:t>1908-1970</a:t>
            </a:r>
            <a:endParaRPr lang="en-US" sz="1000" dirty="0"/>
          </a:p>
        </p:txBody>
      </p:sp>
      <p:sp>
        <p:nvSpPr>
          <p:cNvPr id="8" name="nivel0"/>
          <p:cNvSpPr/>
          <p:nvPr/>
        </p:nvSpPr>
        <p:spPr>
          <a:xfrm>
            <a:off x="3108960" y="1417320"/>
            <a:ext cx="1188720" cy="502920"/>
          </a:xfrm>
          <a:prstGeom prst="trapezoid">
            <a:avLst/>
          </a:prstGeom>
          <a:solidFill>
            <a:srgbClr val="1F4E79"/>
          </a:solidFill>
          <a:ln w="12700">
            <a:solidFill>
              <a:srgbClr val="FFFFFF"/>
            </a:solidFill>
            <a:prstDash val="solid"/>
          </a:ln>
        </p:spPr>
      </p:sp>
      <p:sp>
        <p:nvSpPr>
          <p:cNvPr id="9" name="Text 6"/>
          <p:cNvSpPr txBox="1"/>
          <p:nvPr/>
        </p:nvSpPr>
        <p:spPr>
          <a:xfrm>
            <a:off x="3108960" y="1417320"/>
            <a:ext cx="1188720" cy="502920"/>
          </a:xfrm>
          <a:prstGeom prst="rect">
            <a:avLst/>
          </a:prstGeom>
          <a:noFill/>
          <a:ln/>
        </p:spPr>
        <p:txBody>
          <a:bodyPr wrap="square" lIns="0" tIns="0" rIns="0" bIns="0" rtlCol="0" anchor="ctr"/>
          <a:lstStyle/>
          <a:p>
            <a:pPr algn="ctr" indent="0" marL="0">
              <a:buNone/>
            </a:pPr>
            <a:r>
              <a:rPr lang="en-US" sz="1000" b="1" dirty="0">
                <a:solidFill>
                  <a:schemeClr val="bg1"/>
                </a:solidFill>
              </a:rPr>
              <a:t>Autorrealización</a:t>
            </a:r>
            <a:endParaRPr lang="en-US" sz="1000" dirty="0"/>
          </a:p>
        </p:txBody>
      </p:sp>
      <p:sp>
        <p:nvSpPr>
          <p:cNvPr id="10" name="nivel1"/>
          <p:cNvSpPr/>
          <p:nvPr/>
        </p:nvSpPr>
        <p:spPr>
          <a:xfrm>
            <a:off x="2834640" y="1965960"/>
            <a:ext cx="1737360" cy="502920"/>
          </a:xfrm>
          <a:prstGeom prst="trapezoid">
            <a:avLst/>
          </a:prstGeom>
          <a:solidFill>
            <a:srgbClr val="2A6496"/>
          </a:solidFill>
          <a:ln w="12700">
            <a:solidFill>
              <a:srgbClr val="FFFFFF"/>
            </a:solidFill>
            <a:prstDash val="solid"/>
          </a:ln>
        </p:spPr>
      </p:sp>
      <p:sp>
        <p:nvSpPr>
          <p:cNvPr id="11" name="Text 8"/>
          <p:cNvSpPr txBox="1"/>
          <p:nvPr/>
        </p:nvSpPr>
        <p:spPr>
          <a:xfrm>
            <a:off x="2834640" y="1965960"/>
            <a:ext cx="1737360" cy="502920"/>
          </a:xfrm>
          <a:prstGeom prst="rect">
            <a:avLst/>
          </a:prstGeom>
          <a:noFill/>
          <a:ln/>
        </p:spPr>
        <p:txBody>
          <a:bodyPr wrap="square" lIns="0" tIns="0" rIns="0" bIns="0" rtlCol="0" anchor="ctr"/>
          <a:lstStyle/>
          <a:p>
            <a:pPr algn="ctr" indent="0" marL="0">
              <a:buNone/>
            </a:pPr>
            <a:r>
              <a:rPr lang="en-US" sz="1200" b="1" dirty="0">
                <a:solidFill>
                  <a:schemeClr val="bg1"/>
                </a:solidFill>
              </a:rPr>
              <a:t>Estima</a:t>
            </a:r>
            <a:endParaRPr lang="en-US" sz="1200" dirty="0"/>
          </a:p>
        </p:txBody>
      </p:sp>
      <p:sp>
        <p:nvSpPr>
          <p:cNvPr id="12" name="nivel2"/>
          <p:cNvSpPr/>
          <p:nvPr/>
        </p:nvSpPr>
        <p:spPr>
          <a:xfrm>
            <a:off x="2560320" y="2514600"/>
            <a:ext cx="2286000" cy="502920"/>
          </a:xfrm>
          <a:prstGeom prst="trapezoid">
            <a:avLst/>
          </a:prstGeom>
          <a:solidFill>
            <a:srgbClr val="3A7CA5"/>
          </a:solidFill>
          <a:ln w="12700">
            <a:solidFill>
              <a:srgbClr val="FFFFFF"/>
            </a:solidFill>
            <a:prstDash val="solid"/>
          </a:ln>
        </p:spPr>
      </p:sp>
      <p:sp>
        <p:nvSpPr>
          <p:cNvPr id="13" name="Text 10"/>
          <p:cNvSpPr txBox="1"/>
          <p:nvPr/>
        </p:nvSpPr>
        <p:spPr>
          <a:xfrm>
            <a:off x="2560320" y="2514600"/>
            <a:ext cx="2286000" cy="502920"/>
          </a:xfrm>
          <a:prstGeom prst="rect">
            <a:avLst/>
          </a:prstGeom>
          <a:noFill/>
          <a:ln/>
        </p:spPr>
        <p:txBody>
          <a:bodyPr wrap="square" lIns="0" tIns="0" rIns="0" bIns="0" rtlCol="0" anchor="ctr"/>
          <a:lstStyle/>
          <a:p>
            <a:pPr algn="ctr" indent="0" marL="0">
              <a:buNone/>
            </a:pPr>
            <a:r>
              <a:rPr lang="en-US" sz="1200" b="1" dirty="0">
                <a:solidFill>
                  <a:schemeClr val="bg1"/>
                </a:solidFill>
              </a:rPr>
              <a:t>Sociales</a:t>
            </a:r>
            <a:endParaRPr lang="en-US" sz="1200" dirty="0"/>
          </a:p>
        </p:txBody>
      </p:sp>
      <p:sp>
        <p:nvSpPr>
          <p:cNvPr id="14" name="nivel3"/>
          <p:cNvSpPr/>
          <p:nvPr/>
        </p:nvSpPr>
        <p:spPr>
          <a:xfrm>
            <a:off x="2286000" y="3063240"/>
            <a:ext cx="2834640" cy="502920"/>
          </a:xfrm>
          <a:prstGeom prst="trapezoid">
            <a:avLst/>
          </a:prstGeom>
          <a:solidFill>
            <a:srgbClr val="5B97BF"/>
          </a:solidFill>
          <a:ln w="12700">
            <a:solidFill>
              <a:srgbClr val="FFFFFF"/>
            </a:solidFill>
            <a:prstDash val="solid"/>
          </a:ln>
        </p:spPr>
      </p:sp>
      <p:sp>
        <p:nvSpPr>
          <p:cNvPr id="15" name="Text 12"/>
          <p:cNvSpPr txBox="1"/>
          <p:nvPr/>
        </p:nvSpPr>
        <p:spPr>
          <a:xfrm>
            <a:off x="2286000" y="3063240"/>
            <a:ext cx="2834640" cy="502920"/>
          </a:xfrm>
          <a:prstGeom prst="rect">
            <a:avLst/>
          </a:prstGeom>
          <a:noFill/>
          <a:ln/>
        </p:spPr>
        <p:txBody>
          <a:bodyPr wrap="square" lIns="0" tIns="0" rIns="0" bIns="0" rtlCol="0" anchor="ctr"/>
          <a:lstStyle/>
          <a:p>
            <a:pPr algn="ctr" indent="0" marL="0">
              <a:buNone/>
            </a:pPr>
            <a:r>
              <a:rPr lang="en-US" sz="1200" b="1" dirty="0">
                <a:solidFill>
                  <a:schemeClr val="bg1"/>
                </a:solidFill>
              </a:rPr>
              <a:t>Seguridad</a:t>
            </a:r>
            <a:endParaRPr lang="en-US" sz="1200" dirty="0"/>
          </a:p>
        </p:txBody>
      </p:sp>
      <p:sp>
        <p:nvSpPr>
          <p:cNvPr id="16" name="nivel4"/>
          <p:cNvSpPr/>
          <p:nvPr/>
        </p:nvSpPr>
        <p:spPr>
          <a:xfrm>
            <a:off x="2011680" y="3611880"/>
            <a:ext cx="3383280" cy="502920"/>
          </a:xfrm>
          <a:prstGeom prst="trapezoid">
            <a:avLst/>
          </a:prstGeom>
          <a:solidFill>
            <a:srgbClr val="8AB6D6"/>
          </a:solidFill>
          <a:ln w="12700">
            <a:solidFill>
              <a:srgbClr val="FFFFFF"/>
            </a:solidFill>
            <a:prstDash val="solid"/>
          </a:ln>
        </p:spPr>
      </p:sp>
      <p:sp>
        <p:nvSpPr>
          <p:cNvPr id="17" name="Text 14"/>
          <p:cNvSpPr txBox="1"/>
          <p:nvPr/>
        </p:nvSpPr>
        <p:spPr>
          <a:xfrm>
            <a:off x="2011680" y="3611880"/>
            <a:ext cx="3383280" cy="502920"/>
          </a:xfrm>
          <a:prstGeom prst="rect">
            <a:avLst/>
          </a:prstGeom>
          <a:noFill/>
          <a:ln/>
        </p:spPr>
        <p:txBody>
          <a:bodyPr wrap="square" lIns="0" tIns="0" rIns="0" bIns="0" rtlCol="0" anchor="ctr"/>
          <a:lstStyle/>
          <a:p>
            <a:pPr algn="ctr" indent="0" marL="0">
              <a:buNone/>
            </a:pPr>
            <a:r>
              <a:rPr lang="en-US" sz="1200" b="1" dirty="0">
                <a:solidFill>
                  <a:schemeClr val="bg1"/>
                </a:solidFill>
              </a:rPr>
              <a:t>Fisiológicas</a:t>
            </a:r>
            <a:endParaRPr lang="en-US" sz="1200" dirty="0"/>
          </a:p>
        </p:txBody>
      </p:sp>
      <p:sp>
        <p:nvSpPr>
          <p:cNvPr id="18" name="Text 15"/>
          <p:cNvSpPr txBox="1"/>
          <p:nvPr/>
        </p:nvSpPr>
        <p:spPr>
          <a:xfrm>
            <a:off x="2148840" y="4206240"/>
            <a:ext cx="3108960" cy="457200"/>
          </a:xfrm>
          <a:prstGeom prst="rect">
            <a:avLst/>
          </a:prstGeom>
          <a:noFill/>
          <a:ln/>
        </p:spPr>
        <p:txBody>
          <a:bodyPr wrap="square" lIns="0" tIns="0" rIns="0" bIns="0" rtlCol="0" anchor="ctr"/>
          <a:lstStyle/>
          <a:p>
            <a:pPr algn="ctr" indent="0" marL="0">
              <a:buNone/>
            </a:pPr>
            <a:r>
              <a:rPr lang="en-US" sz="1100" dirty="0">
                <a:solidFill>
                  <a:schemeClr val="accent4"/>
                </a:solidFill>
              </a:rPr>
              <a:t>Primero se cubren las necesidades de abajo; solo entonces motivan las de arriba</a:t>
            </a:r>
            <a:endParaRPr lang="en-US" sz="1100" dirty="0"/>
          </a:p>
        </p:txBody>
      </p:sp>
      <p:sp>
        <p:nvSpPr>
          <p:cNvPr id="19" name="tarj_Frederick Herzberg"/>
          <p:cNvSpPr/>
          <p:nvPr/>
        </p:nvSpPr>
        <p:spPr>
          <a:xfrm>
            <a:off x="5669280" y="1417320"/>
            <a:ext cx="3017520" cy="1463040"/>
          </a:xfrm>
          <a:prstGeom prst="roundRect">
            <a:avLst>
              <a:gd name="adj" fmla="val 5000"/>
            </a:avLst>
          </a:prstGeom>
          <a:solidFill>
            <a:srgbClr val="EEF1F4"/>
          </a:solidFill>
          <a:ln w="12700">
            <a:solidFill>
              <a:srgbClr val="EEF1F4"/>
            </a:solidFill>
            <a:prstDash val="solid"/>
          </a:ln>
        </p:spPr>
      </p:sp>
      <p:pic>
        <p:nvPicPr>
          <p:cNvPr id="20" name="foto_Frederick Herzberg" descr="Retrato de Frederick Herzberg">    </p:cNvPr>
          <p:cNvPicPr>
            <a:picLocks noChangeAspect="1"/>
          </p:cNvPicPr>
          <p:nvPr/>
        </p:nvPicPr>
        <p:blipFill>
          <a:blip r:embed="rId2"/>
          <a:srcRect l="0" r="0" t="0" b="0"/>
          <a:stretch/>
        </p:blipFill>
        <p:spPr>
          <a:xfrm>
            <a:off x="5806440" y="1554480"/>
            <a:ext cx="914400" cy="1188720"/>
          </a:xfrm>
          <a:prstGeom prst="rect">
            <a:avLst/>
          </a:prstGeom>
        </p:spPr>
      </p:pic>
      <p:sp>
        <p:nvSpPr>
          <p:cNvPr id="21" name="Text 17"/>
          <p:cNvSpPr txBox="1"/>
          <p:nvPr/>
        </p:nvSpPr>
        <p:spPr>
          <a:xfrm>
            <a:off x="6858000" y="1554480"/>
            <a:ext cx="1737360" cy="411480"/>
          </a:xfrm>
          <a:prstGeom prst="rect">
            <a:avLst/>
          </a:prstGeom>
          <a:noFill/>
          <a:ln/>
        </p:spPr>
        <p:txBody>
          <a:bodyPr wrap="square" lIns="0" tIns="0" rIns="0" bIns="0" rtlCol="0" anchor="t"/>
          <a:lstStyle/>
          <a:p>
            <a:pPr indent="0" marL="0">
              <a:buNone/>
            </a:pPr>
            <a:r>
              <a:rPr lang="en-US" sz="1300" b="1" dirty="0">
                <a:solidFill>
                  <a:schemeClr val="tx2"/>
                </a:solidFill>
              </a:rPr>
              <a:t>Frederick Herzberg</a:t>
            </a:r>
            <a:endParaRPr lang="en-US" sz="1300" dirty="0"/>
          </a:p>
        </p:txBody>
      </p:sp>
      <p:sp>
        <p:nvSpPr>
          <p:cNvPr id="22" name="Text 18"/>
          <p:cNvSpPr txBox="1"/>
          <p:nvPr/>
        </p:nvSpPr>
        <p:spPr>
          <a:xfrm>
            <a:off x="6858000" y="1965960"/>
            <a:ext cx="1737360" cy="822960"/>
          </a:xfrm>
          <a:prstGeom prst="rect">
            <a:avLst/>
          </a:prstGeom>
          <a:noFill/>
          <a:ln/>
        </p:spPr>
        <p:txBody>
          <a:bodyPr wrap="square" lIns="0" tIns="0" rIns="0" bIns="0" rtlCol="0" anchor="t"/>
          <a:lstStyle/>
          <a:p>
            <a:pPr indent="0" marL="0">
              <a:buNone/>
            </a:pPr>
            <a:r>
              <a:rPr lang="en-US" sz="1100" dirty="0">
                <a:solidFill>
                  <a:schemeClr val="tx1"/>
                </a:solidFill>
              </a:rPr>
              <a:t>Dos factores: los higiénicos (sueldo, jefe) solo evitan la inconformidad; los motivacionales (logro, reconocimiento) motivan</a:t>
            </a:r>
            <a:endParaRPr lang="en-US" sz="1100" dirty="0"/>
          </a:p>
        </p:txBody>
      </p:sp>
      <p:sp>
        <p:nvSpPr>
          <p:cNvPr id="23" name="tarj_Douglas McGregor"/>
          <p:cNvSpPr/>
          <p:nvPr/>
        </p:nvSpPr>
        <p:spPr>
          <a:xfrm>
            <a:off x="5669280" y="3063240"/>
            <a:ext cx="3017520" cy="1463040"/>
          </a:xfrm>
          <a:prstGeom prst="roundRect">
            <a:avLst>
              <a:gd name="adj" fmla="val 5000"/>
            </a:avLst>
          </a:prstGeom>
          <a:solidFill>
            <a:srgbClr val="EEF1F4"/>
          </a:solidFill>
          <a:ln w="12700">
            <a:solidFill>
              <a:srgbClr val="EEF1F4"/>
            </a:solidFill>
            <a:prstDash val="solid"/>
          </a:ln>
        </p:spPr>
      </p:sp>
      <p:pic>
        <p:nvPicPr>
          <p:cNvPr id="24" name="foto_Douglas McGregor" descr="Retrato de Douglas McGregor">    </p:cNvPr>
          <p:cNvPicPr>
            <a:picLocks noChangeAspect="1"/>
          </p:cNvPicPr>
          <p:nvPr/>
        </p:nvPicPr>
        <p:blipFill>
          <a:blip r:embed="rId3"/>
          <a:srcRect l="0" r="0" t="0" b="0"/>
          <a:stretch/>
        </p:blipFill>
        <p:spPr>
          <a:xfrm>
            <a:off x="5806440" y="3200400"/>
            <a:ext cx="914400" cy="1188720"/>
          </a:xfrm>
          <a:prstGeom prst="rect">
            <a:avLst/>
          </a:prstGeom>
        </p:spPr>
      </p:pic>
      <p:sp>
        <p:nvSpPr>
          <p:cNvPr id="25" name="Text 20"/>
          <p:cNvSpPr txBox="1"/>
          <p:nvPr/>
        </p:nvSpPr>
        <p:spPr>
          <a:xfrm>
            <a:off x="6858000" y="3200400"/>
            <a:ext cx="1737360" cy="411480"/>
          </a:xfrm>
          <a:prstGeom prst="rect">
            <a:avLst/>
          </a:prstGeom>
          <a:noFill/>
          <a:ln/>
        </p:spPr>
        <p:txBody>
          <a:bodyPr wrap="square" lIns="0" tIns="0" rIns="0" bIns="0" rtlCol="0" anchor="t"/>
          <a:lstStyle/>
          <a:p>
            <a:pPr indent="0" marL="0">
              <a:buNone/>
            </a:pPr>
            <a:r>
              <a:rPr lang="en-US" sz="1300" b="1" dirty="0">
                <a:solidFill>
                  <a:schemeClr val="tx2"/>
                </a:solidFill>
              </a:rPr>
              <a:t>Douglas McGregor</a:t>
            </a:r>
            <a:endParaRPr lang="en-US" sz="1300" dirty="0"/>
          </a:p>
        </p:txBody>
      </p:sp>
      <p:sp>
        <p:nvSpPr>
          <p:cNvPr id="26" name="Text 21"/>
          <p:cNvSpPr txBox="1"/>
          <p:nvPr/>
        </p:nvSpPr>
        <p:spPr>
          <a:xfrm>
            <a:off x="6858000" y="3611880"/>
            <a:ext cx="1737360" cy="822960"/>
          </a:xfrm>
          <a:prstGeom prst="rect">
            <a:avLst/>
          </a:prstGeom>
          <a:noFill/>
          <a:ln/>
        </p:spPr>
        <p:txBody>
          <a:bodyPr wrap="square" lIns="0" tIns="0" rIns="0" bIns="0" rtlCol="0" anchor="t"/>
          <a:lstStyle/>
          <a:p>
            <a:pPr indent="0" marL="0">
              <a:buNone/>
            </a:pPr>
            <a:r>
              <a:rPr lang="en-US" sz="1100" dirty="0">
                <a:solidFill>
                  <a:schemeClr val="tx1"/>
                </a:solidFill>
              </a:rPr>
              <a:t>Teoría X: el empleado es flojo y hay que vigilarlo. Teoría Y: es responsable si se le da confianza</a:t>
            </a:r>
            <a:endParaRPr lang="en-US" sz="1100" dirty="0"/>
          </a:p>
        </p:txBody>
      </p:sp>
      <p:sp>
        <p:nvSpPr>
          <p:cNvPr id="27" name="cred2"/>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Imágenes: apunte de Administración, UNAM-FCA (2026).</a:t>
            </a:r>
            <a:endParaRPr lang="en-US" sz="1000" dirty="0"/>
          </a:p>
        </p:txBody>
      </p:sp>
      <p:sp>
        <p:nvSpPr>
          <p:cNvPr id="25" name="Slide Number Placeholder 0"/>
          <p:cNvSpPr>
            <a:spLocks noGrp="1"/>
          </p:cNvSpPr>
          <p:nvPr>
            <p:ph type="sldNum" sz="quarter" idx="4294967295"/>
          </p:nvPr>
        </p:nvSpPr>
        <p:spPr>
          <a:xfrm>
            <a:off x="850392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A8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Neohumanorrelacionista: lo que se le critica</a:t>
            </a:r>
            <a:endParaRPr lang="en-US" sz="3200" dirty="0"/>
          </a:p>
        </p:txBody>
      </p:sp>
      <p:sp>
        <p:nvSpPr>
          <p:cNvPr id="3" name="crit_h0"/>
          <p:cNvSpPr/>
          <p:nvPr/>
        </p:nvSpPr>
        <p:spPr>
          <a:xfrm>
            <a:off x="457200" y="1188720"/>
            <a:ext cx="2606040" cy="2331720"/>
          </a:xfrm>
          <a:prstGeom prst="roundRect">
            <a:avLst>
              <a:gd name="adj" fmla="val 3137"/>
            </a:avLst>
          </a:prstGeom>
          <a:solidFill>
            <a:srgbClr val="F8E6E3"/>
          </a:solidFill>
          <a:ln w="12700">
            <a:solidFill>
              <a:srgbClr val="F8E6E3"/>
            </a:solidFill>
            <a:prstDash val="solid"/>
          </a:ln>
        </p:spPr>
      </p:sp>
      <p:sp>
        <p:nvSpPr>
          <p:cNvPr id="4" name="circ_h0"/>
          <p:cNvSpPr/>
          <p:nvPr/>
        </p:nvSpPr>
        <p:spPr>
          <a:xfrm>
            <a:off x="685800" y="1371600"/>
            <a:ext cx="594360" cy="594360"/>
          </a:xfrm>
          <a:prstGeom prst="ellipse">
            <a:avLst/>
          </a:prstGeom>
          <a:solidFill>
            <a:srgbClr val="B83A2E"/>
          </a:solidFill>
          <a:ln w="12700">
            <a:solidFill>
              <a:srgbClr val="B83A2E"/>
            </a:solidFill>
            <a:prstDash val="solid"/>
          </a:ln>
        </p:spPr>
      </p:sp>
      <p:pic>
        <p:nvPicPr>
          <p:cNvPr id="5" name="ic_h0" descr="preencoded.png">    </p:cNvPr>
          <p:cNvPicPr>
            <a:picLocks noChangeAspect="1"/>
          </p:cNvPicPr>
          <p:nvPr/>
        </p:nvPicPr>
        <p:blipFill>
          <a:blip r:embed="rId1"/>
          <a:stretch>
            <a:fillRect/>
          </a:stretch>
        </p:blipFill>
        <p:spPr>
          <a:xfrm>
            <a:off x="827532" y="1513332"/>
            <a:ext cx="310896" cy="310896"/>
          </a:xfrm>
          <a:prstGeom prst="rect">
            <a:avLst/>
          </a:prstGeom>
        </p:spPr>
      </p:pic>
      <p:sp>
        <p:nvSpPr>
          <p:cNvPr id="6" name="Text 3"/>
          <p:cNvSpPr txBox="1"/>
          <p:nvPr/>
        </p:nvSpPr>
        <p:spPr>
          <a:xfrm>
            <a:off x="685800" y="2103120"/>
            <a:ext cx="2194560" cy="365760"/>
          </a:xfrm>
          <a:prstGeom prst="rect">
            <a:avLst/>
          </a:prstGeom>
          <a:noFill/>
          <a:ln/>
        </p:spPr>
        <p:txBody>
          <a:bodyPr wrap="square" lIns="0" tIns="0" rIns="0" bIns="0" rtlCol="0" anchor="ctr"/>
          <a:lstStyle/>
          <a:p>
            <a:pPr indent="0" marL="0">
              <a:buNone/>
            </a:pPr>
            <a:r>
              <a:rPr lang="en-US" sz="1500" b="1" dirty="0">
                <a:solidFill>
                  <a:schemeClr val="accent3"/>
                </a:solidFill>
              </a:rPr>
              <a:t>Pirámide sin probar</a:t>
            </a:r>
            <a:endParaRPr lang="en-US" sz="1500" dirty="0"/>
          </a:p>
        </p:txBody>
      </p:sp>
      <p:sp>
        <p:nvSpPr>
          <p:cNvPr id="7" name="Text 4"/>
          <p:cNvSpPr txBox="1"/>
          <p:nvPr/>
        </p:nvSpPr>
        <p:spPr>
          <a:xfrm>
            <a:off x="685800" y="2514600"/>
            <a:ext cx="2194560" cy="914400"/>
          </a:xfrm>
          <a:prstGeom prst="rect">
            <a:avLst/>
          </a:prstGeom>
          <a:noFill/>
          <a:ln/>
        </p:spPr>
        <p:txBody>
          <a:bodyPr wrap="square" lIns="0" tIns="0" rIns="0" bIns="0" rtlCol="0" anchor="t"/>
          <a:lstStyle/>
          <a:p>
            <a:pPr indent="0" marL="0">
              <a:buNone/>
            </a:pPr>
            <a:r>
              <a:rPr lang="en-US" sz="1300" dirty="0">
                <a:solidFill>
                  <a:schemeClr val="tx1"/>
                </a:solidFill>
              </a:rPr>
              <a:t>No se cumple igual en todas las personas, y Maslow no dijo en qué nivel va el dinero</a:t>
            </a:r>
            <a:endParaRPr lang="en-US" sz="1300" dirty="0"/>
          </a:p>
        </p:txBody>
      </p:sp>
      <p:sp>
        <p:nvSpPr>
          <p:cNvPr id="8" name="crit_h1"/>
          <p:cNvSpPr/>
          <p:nvPr/>
        </p:nvSpPr>
        <p:spPr>
          <a:xfrm>
            <a:off x="3291840" y="1188720"/>
            <a:ext cx="2606040" cy="2331720"/>
          </a:xfrm>
          <a:prstGeom prst="roundRect">
            <a:avLst>
              <a:gd name="adj" fmla="val 3137"/>
            </a:avLst>
          </a:prstGeom>
          <a:solidFill>
            <a:srgbClr val="F8E6E3"/>
          </a:solidFill>
          <a:ln w="12700">
            <a:solidFill>
              <a:srgbClr val="F8E6E3"/>
            </a:solidFill>
            <a:prstDash val="solid"/>
          </a:ln>
        </p:spPr>
      </p:sp>
      <p:sp>
        <p:nvSpPr>
          <p:cNvPr id="9" name="circ_h1"/>
          <p:cNvSpPr/>
          <p:nvPr/>
        </p:nvSpPr>
        <p:spPr>
          <a:xfrm>
            <a:off x="3520440" y="1371600"/>
            <a:ext cx="594360" cy="594360"/>
          </a:xfrm>
          <a:prstGeom prst="ellipse">
            <a:avLst/>
          </a:prstGeom>
          <a:solidFill>
            <a:srgbClr val="B83A2E"/>
          </a:solidFill>
          <a:ln w="12700">
            <a:solidFill>
              <a:srgbClr val="B83A2E"/>
            </a:solidFill>
            <a:prstDash val="solid"/>
          </a:ln>
        </p:spPr>
      </p:sp>
      <p:pic>
        <p:nvPicPr>
          <p:cNvPr id="10" name="ic_h1" descr="preencoded.png">    </p:cNvPr>
          <p:cNvPicPr>
            <a:picLocks noChangeAspect="1"/>
          </p:cNvPicPr>
          <p:nvPr/>
        </p:nvPicPr>
        <p:blipFill>
          <a:blip r:embed="rId2"/>
          <a:stretch>
            <a:fillRect/>
          </a:stretch>
        </p:blipFill>
        <p:spPr>
          <a:xfrm>
            <a:off x="3662172" y="1513332"/>
            <a:ext cx="310896" cy="310896"/>
          </a:xfrm>
          <a:prstGeom prst="rect">
            <a:avLst/>
          </a:prstGeom>
        </p:spPr>
      </p:pic>
      <p:sp>
        <p:nvSpPr>
          <p:cNvPr id="11" name="Text 7"/>
          <p:cNvSpPr txBox="1"/>
          <p:nvPr/>
        </p:nvSpPr>
        <p:spPr>
          <a:xfrm>
            <a:off x="3520440" y="2103120"/>
            <a:ext cx="2194560" cy="365760"/>
          </a:xfrm>
          <a:prstGeom prst="rect">
            <a:avLst/>
          </a:prstGeom>
          <a:noFill/>
          <a:ln/>
        </p:spPr>
        <p:txBody>
          <a:bodyPr wrap="square" lIns="0" tIns="0" rIns="0" bIns="0" rtlCol="0" anchor="ctr"/>
          <a:lstStyle/>
          <a:p>
            <a:pPr indent="0" marL="0">
              <a:buNone/>
            </a:pPr>
            <a:r>
              <a:rPr lang="en-US" sz="1500" b="1" dirty="0">
                <a:solidFill>
                  <a:schemeClr val="accent3"/>
                </a:solidFill>
              </a:rPr>
              <a:t>No mide productividad</a:t>
            </a:r>
            <a:endParaRPr lang="en-US" sz="1500" dirty="0"/>
          </a:p>
        </p:txBody>
      </p:sp>
      <p:sp>
        <p:nvSpPr>
          <p:cNvPr id="12" name="Text 8"/>
          <p:cNvSpPr txBox="1"/>
          <p:nvPr/>
        </p:nvSpPr>
        <p:spPr>
          <a:xfrm>
            <a:off x="3520440" y="2514600"/>
            <a:ext cx="2194560" cy="914400"/>
          </a:xfrm>
          <a:prstGeom prst="rect">
            <a:avLst/>
          </a:prstGeom>
          <a:noFill/>
          <a:ln/>
        </p:spPr>
        <p:txBody>
          <a:bodyPr wrap="square" lIns="0" tIns="0" rIns="0" bIns="0" rtlCol="0" anchor="t"/>
          <a:lstStyle/>
          <a:p>
            <a:pPr indent="0" marL="0">
              <a:buNone/>
            </a:pPr>
            <a:r>
              <a:rPr lang="en-US" sz="1300" dirty="0">
                <a:solidFill>
                  <a:schemeClr val="tx1"/>
                </a:solidFill>
              </a:rPr>
              <a:t>Herzberg midió satisfacción, pero no probó que suba la productividad</a:t>
            </a:r>
            <a:endParaRPr lang="en-US" sz="1300" dirty="0"/>
          </a:p>
        </p:txBody>
      </p:sp>
      <p:sp>
        <p:nvSpPr>
          <p:cNvPr id="13" name="crit_h2"/>
          <p:cNvSpPr/>
          <p:nvPr/>
        </p:nvSpPr>
        <p:spPr>
          <a:xfrm>
            <a:off x="6126480" y="1188720"/>
            <a:ext cx="2606040" cy="2331720"/>
          </a:xfrm>
          <a:prstGeom prst="roundRect">
            <a:avLst>
              <a:gd name="adj" fmla="val 3137"/>
            </a:avLst>
          </a:prstGeom>
          <a:solidFill>
            <a:srgbClr val="F8E6E3"/>
          </a:solidFill>
          <a:ln w="12700">
            <a:solidFill>
              <a:srgbClr val="F8E6E3"/>
            </a:solidFill>
            <a:prstDash val="solid"/>
          </a:ln>
        </p:spPr>
      </p:sp>
      <p:sp>
        <p:nvSpPr>
          <p:cNvPr id="14" name="circ_h2"/>
          <p:cNvSpPr/>
          <p:nvPr/>
        </p:nvSpPr>
        <p:spPr>
          <a:xfrm>
            <a:off x="6355080" y="1371600"/>
            <a:ext cx="594360" cy="594360"/>
          </a:xfrm>
          <a:prstGeom prst="ellipse">
            <a:avLst/>
          </a:prstGeom>
          <a:solidFill>
            <a:srgbClr val="B83A2E"/>
          </a:solidFill>
          <a:ln w="12700">
            <a:solidFill>
              <a:srgbClr val="B83A2E"/>
            </a:solidFill>
            <a:prstDash val="solid"/>
          </a:ln>
        </p:spPr>
      </p:sp>
      <p:pic>
        <p:nvPicPr>
          <p:cNvPr id="15" name="ic_h2" descr="preencoded.png">    </p:cNvPr>
          <p:cNvPicPr>
            <a:picLocks noChangeAspect="1"/>
          </p:cNvPicPr>
          <p:nvPr/>
        </p:nvPicPr>
        <p:blipFill>
          <a:blip r:embed="rId3"/>
          <a:stretch>
            <a:fillRect/>
          </a:stretch>
        </p:blipFill>
        <p:spPr>
          <a:xfrm>
            <a:off x="6496812" y="1513332"/>
            <a:ext cx="310896" cy="310896"/>
          </a:xfrm>
          <a:prstGeom prst="rect">
            <a:avLst/>
          </a:prstGeom>
        </p:spPr>
      </p:pic>
      <p:sp>
        <p:nvSpPr>
          <p:cNvPr id="16" name="Text 11"/>
          <p:cNvSpPr txBox="1"/>
          <p:nvPr/>
        </p:nvSpPr>
        <p:spPr>
          <a:xfrm>
            <a:off x="6355080" y="2103120"/>
            <a:ext cx="2194560" cy="365760"/>
          </a:xfrm>
          <a:prstGeom prst="rect">
            <a:avLst/>
          </a:prstGeom>
          <a:noFill/>
          <a:ln/>
        </p:spPr>
        <p:txBody>
          <a:bodyPr wrap="square" lIns="0" tIns="0" rIns="0" bIns="0" rtlCol="0" anchor="ctr"/>
          <a:lstStyle/>
          <a:p>
            <a:pPr indent="0" marL="0">
              <a:buNone/>
            </a:pPr>
            <a:r>
              <a:rPr lang="en-US" sz="1500" b="1" dirty="0">
                <a:solidFill>
                  <a:schemeClr val="accent3"/>
                </a:solidFill>
              </a:rPr>
              <a:t>Olvida la estructura</a:t>
            </a:r>
            <a:endParaRPr lang="en-US" sz="1500" dirty="0"/>
          </a:p>
        </p:txBody>
      </p:sp>
      <p:sp>
        <p:nvSpPr>
          <p:cNvPr id="17" name="Text 12"/>
          <p:cNvSpPr txBox="1"/>
          <p:nvPr/>
        </p:nvSpPr>
        <p:spPr>
          <a:xfrm>
            <a:off x="6355080" y="2514600"/>
            <a:ext cx="2194560" cy="914400"/>
          </a:xfrm>
          <a:prstGeom prst="rect">
            <a:avLst/>
          </a:prstGeom>
          <a:noFill/>
          <a:ln/>
        </p:spPr>
        <p:txBody>
          <a:bodyPr wrap="square" lIns="0" tIns="0" rIns="0" bIns="0" rtlCol="0" anchor="t"/>
          <a:lstStyle/>
          <a:p>
            <a:pPr indent="0" marL="0">
              <a:buNone/>
            </a:pPr>
            <a:r>
              <a:rPr lang="en-US" sz="1300" dirty="0">
                <a:solidFill>
                  <a:schemeClr val="tx1"/>
                </a:solidFill>
              </a:rPr>
              <a:t>Se concentra en la psicología y descuida la organización y la tecnología</a:t>
            </a:r>
            <a:endParaRPr lang="en-US" sz="1300" dirty="0"/>
          </a:p>
        </p:txBody>
      </p:sp>
      <p:sp>
        <p:nvSpPr>
          <p:cNvPr id="18" name="transicion"/>
          <p:cNvSpPr/>
          <p:nvPr/>
        </p:nvSpPr>
        <p:spPr>
          <a:xfrm>
            <a:off x="457200" y="3794760"/>
            <a:ext cx="8229600" cy="731520"/>
          </a:xfrm>
          <a:prstGeom prst="roundRect">
            <a:avLst>
              <a:gd name="adj" fmla="val 10000"/>
            </a:avLst>
          </a:prstGeom>
          <a:solidFill>
            <a:srgbClr val="23303D"/>
          </a:solidFill>
          <a:ln w="12700">
            <a:solidFill>
              <a:srgbClr val="23303D"/>
            </a:solidFill>
            <a:prstDash val="solid"/>
          </a:ln>
        </p:spPr>
      </p:sp>
      <p:sp>
        <p:nvSpPr>
          <p:cNvPr id="19" name="trans_txt"/>
          <p:cNvSpPr txBox="1"/>
          <p:nvPr/>
        </p:nvSpPr>
        <p:spPr>
          <a:xfrm>
            <a:off x="685800" y="3794760"/>
            <a:ext cx="7772400" cy="731520"/>
          </a:xfrm>
          <a:prstGeom prst="rect">
            <a:avLst/>
          </a:prstGeom>
          <a:noFill/>
          <a:ln/>
        </p:spPr>
        <p:txBody>
          <a:bodyPr wrap="square" lIns="0" tIns="0" rIns="0" bIns="0" rtlCol="0" anchor="ctr"/>
          <a:lstStyle/>
          <a:p>
            <a:pPr indent="0" marL="0">
              <a:buNone/>
            </a:pPr>
            <a:r>
              <a:rPr lang="en-US" sz="1500" b="1" dirty="0">
                <a:solidFill>
                  <a:schemeClr val="accent1"/>
                </a:solidFill>
              </a:rPr>
              <a:t>Siguiente: </a:t>
            </a:r>
            <a:pPr indent="0" marL="0">
              <a:buNone/>
            </a:pPr>
            <a:r>
              <a:rPr lang="en-US" sz="1500" dirty="0">
                <a:solidFill>
                  <a:schemeClr val="bg1"/>
                </a:solidFill>
              </a:rPr>
              <a:t>para ver la organización como un todo, el enfoque de sistemas</a:t>
            </a:r>
            <a:endParaRPr lang="en-US" sz="1500" dirty="0"/>
          </a:p>
        </p:txBody>
      </p:sp>
      <p:sp>
        <p:nvSpPr>
          <p:cNvPr id="20" name="fuente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Fuente: apunte de Administración, UNAM-FCA (2026), pp. 95-101.</a:t>
            </a:r>
            <a:endParaRPr lang="en-US" sz="1000" dirty="0"/>
          </a:p>
        </p:txBody>
      </p:sp>
      <p:sp>
        <p:nvSpPr>
          <p:cNvPr id="25" name="Slide Number Placeholder 0"/>
          <p:cNvSpPr>
            <a:spLocks noGrp="1"/>
          </p:cNvSpPr>
          <p:nvPr>
            <p:ph type="sldNum" sz="quarter" idx="4294967295"/>
          </p:nvPr>
        </p:nvSpPr>
        <p:spPr>
          <a:xfrm>
            <a:off x="8503920" y="48006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A89"/>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Taller">
  <a:themeElements>
    <a:clrScheme name="Taller">
      <a:dk1>
        <a:srgbClr val="1B1F24"/>
      </a:dk1>
      <a:lt1>
        <a:srgbClr val="FFFFFF"/>
      </a:lt1>
      <a:dk2>
        <a:srgbClr val="23303D"/>
      </a:dk2>
      <a:lt2>
        <a:srgbClr val="EEF1F4"/>
      </a:lt2>
      <a:accent1>
        <a:srgbClr val="D9822B"/>
      </a:accent1>
      <a:accent2>
        <a:srgbClr val="3A7CA5"/>
      </a:accent2>
      <a:accent3>
        <a:srgbClr val="B83A2E"/>
      </a:accent3>
      <a:accent4>
        <a:srgbClr val="6B7A89"/>
      </a:accent4>
      <a:accent5>
        <a:srgbClr val="F2C14E"/>
      </a:accent5>
      <a:accent6>
        <a:srgbClr val="2E7D5B"/>
      </a:accent6>
      <a:hlink>
        <a:srgbClr val="3A7CA5"/>
      </a:hlink>
      <a:folHlink>
        <a:srgbClr val="6B7A89"/>
      </a:folHlink>
    </a:clrScheme>
    <a:fontScheme name="Tall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Enfoques de la administración — neoclásico y neohumanorrelacionista</dc:title>
  <dc:subject>PptxGenJS Presentation</dc:subject>
  <dc:creator>PptxGenJS</dc:creator>
  <cp:lastModifiedBy>PptxGenJS</cp:lastModifiedBy>
  <cp:revision>1</cp:revision>
  <dcterms:created xsi:type="dcterms:W3CDTF">2026-10-09T07:03:47Z</dcterms:created>
  <dcterms:modified xsi:type="dcterms:W3CDTF">2026-10-09T07:03:47Z</dcterms:modified>
</cp:coreProperties>
</file>